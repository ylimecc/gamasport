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Decir el nombre del negocio, que es un centro de fútbol 5 en Tegucigalpa con dos canchas, y que lo que van a ver es la plataforma completa: catálogo, reservas, cuentas y panel del personal. Aclarar desde ya que el sitio está publicado y funcionando, no es una maqueta.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problema real del negocio antes de hablar de tecnología. Los tres puntos son la razón de existir de la plataforma. El segundo, dos personas pidiendo la misma hora, es el que resolvemos con la parte más interesante del sistema, y lo veremos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estructura de la exposición: primero el catálogo y la compra, después la reserva y el panel. Quien hable puede anticipar que la demostración en vivo viene en la siguiente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rápido, sin detenerse: son las funciones que el visitante puede usar. Si el tiempo aprieta, esta lámina se puede resumir en una frase y pasar directo a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Justificar las decisiones, no solo nombrarlas. La pregunta típica del docente es por qué no usaron un framework: la respuesta es que para catorce páginas no aporta nada y sí agrega complejidad. La segunda pregunta típica es por qué Firebase: porque necesitábamos guardar datos y validar contraseñas sin montar un servidor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no hay un servidor propio ejecutando código: GitHub Pages solo entrega archivos. Eso abarata y simplifica, pero obliga a que la seguridad viva en las reglas de Firebase, que es lo que se explica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va la demostración en vivo: entrar al catálogo, abrir una cancha, agregarla, aplicar el cupón GAMA10 y mostrar cómo cambia el total, elegir fecha y hora, y llegar hasta el comprobante. Mientras se hace, ir nombrando los pasos de la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lámina con más probabilidad de pregunta del docente. La respuesta corta: primero se descuenta, luego se aplica el 15 %. Si preguntan por qué, porque el impuesto grava el precio efectivamente cobrado. Los números de la lámina son los mismos que arroja el sitio y que verifican las pruebas automáticas.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técnica más fuerte de la exposición y conviene explicarla despacio. La clave: no preguntamos primero si está libre y luego guardamos, porque entre esas dos acciones se puede colar alguien. Lo que hacemos es intentar crear un documento cuyo nombre ya identifica la hora y la cancha, y dejar que la base de datos rechace al segundo. Se probó de verdad sobre el sitio publicado: primera reserva cancha 1, segunda cancha 2, tercera rechazada.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la clave de Firebase se ve en el código del sitio, responder: se ve a propósito, así funciona toda aplicación web, y por eso la seguridad real está en las reglas del servidor, que dicen quién puede leer y escribir cada cosa. Nunca en esconder la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puede demostrar en vivo: entrar con una cuenta de cliente y mostrar que en Mi cuenta solo aparecen sus reservas. Si hay tiempo, mencionar que se probó pidiendo datos ajenos directamente a la base y el servidor los rechazó.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corta: entrar al panel, cambiar el estado de una reserva y bloquear un horario. Después mostrar en el catálogo que esa hora ya no aparece disponible. Es la forma más clara de que se entienda que el panel y el sitio son el mismo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lo que sí se cumple y también lo que no. Reconocer que el comprobante no es factura fiscal da credibilidad y evita que lo señalen como un descuido. Si preguntan por protección de datos, explicar que Honduras aún no tiene una ley general y que por eso se aplicaron los principios internacionales apoyados en el habeas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docente pregunta cómo saben que funciona, esta es la respuesta. Se puede correr en vivo con node pruebas/pruebas.mjs y mostrar las veintiuna líneas en verde. Las pruebas nacieron de una cacería de errores: cinco fallos reales encontrados y corregidos, y cada uno dejó su prueba para que no vuelva.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Adelantarse a la pregunta incómoda. Si el docente pregunta por qué no se cobra de verdad, la respuesta ya está dada: no es una limitación técnica del proyecto sino un requisito comercial y legal que excede el alcance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invitando a que abran el sitio en su teléfono durante las preguntas. Tener a mano las tres respuestas de la lámina, que son las dudas que más se repiten.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C24"/>
        </a:solidFill>
      </p:bgPr>
    </p:bg>
    <p:spTree>
      <p:nvGrpSpPr>
        <p:cNvPr id="1" name=""/>
        <p:cNvGrpSpPr/>
        <p:nvPr/>
      </p:nvGrpSpPr>
      <p:grpSpPr>
        <a:xfrm>
          <a:off x="0" y="0"/>
          <a:ext cx="0" cy="0"/>
          <a:chOff x="0" y="0"/>
          <a:chExt cx="0" cy="0"/>
        </a:xfrm>
      </p:grpSpPr>
      <p:pic>
        <p:nvPicPr>
          <p:cNvPr id="2" name="Image 0" descr="C:/Users/ylime/Documents/gamasport/img/cancha-nocturna.jpg">    </p:cNvPr>
          <p:cNvPicPr>
            <a:picLocks noChangeAspect="1"/>
          </p:cNvPicPr>
          <p:nvPr/>
        </p:nvPicPr>
        <p:blipFill>
          <a:blip r:embed="rId1">
            <a:alphaModFix amt="55000"/>
          </a:blip>
          <a:stretch>
            <a:fillRect/>
          </a:stretch>
        </p:blipFill>
        <p:spPr>
          <a:xfrm>
            <a:off x="6675120" y="0"/>
            <a:ext cx="5486400" cy="6858000"/>
          </a:xfrm>
          <a:prstGeom prst="rect">
            <a:avLst/>
          </a:prstGeom>
        </p:spPr>
      </p:pic>
      <p:sp>
        <p:nvSpPr>
          <p:cNvPr id="3" name="Shape 0"/>
          <p:cNvSpPr/>
          <p:nvPr/>
        </p:nvSpPr>
        <p:spPr>
          <a:xfrm>
            <a:off x="685800" y="685800"/>
            <a:ext cx="658368" cy="658368"/>
          </a:xfrm>
          <a:prstGeom prst="roundRect">
            <a:avLst>
              <a:gd name="adj" fmla="val 27778"/>
            </a:avLst>
          </a:prstGeom>
          <a:solidFill>
            <a:srgbClr val="16A34A"/>
          </a:solidFill>
          <a:ln/>
        </p:spPr>
      </p:sp>
      <p:sp>
        <p:nvSpPr>
          <p:cNvPr id="4" name="Shape 1"/>
          <p:cNvSpPr/>
          <p:nvPr/>
        </p:nvSpPr>
        <p:spPr>
          <a:xfrm>
            <a:off x="850392" y="850392"/>
            <a:ext cx="329184" cy="329184"/>
          </a:xfrm>
          <a:prstGeom prst="ellipse">
            <a:avLst/>
          </a:prstGeom>
          <a:solidFill>
            <a:srgbClr val="0A1C24"/>
          </a:solidFill>
          <a:ln/>
        </p:spPr>
      </p:sp>
      <p:sp>
        <p:nvSpPr>
          <p:cNvPr id="5" name="Text 2"/>
          <p:cNvSpPr/>
          <p:nvPr/>
        </p:nvSpPr>
        <p:spPr>
          <a:xfrm>
            <a:off x="1508760" y="713232"/>
            <a:ext cx="365760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Gama</a:t>
            </a:r>
            <a:pPr indent="0" marL="0">
              <a:buNone/>
            </a:pPr>
            <a:r>
              <a:rPr lang="en-US" sz="2600" b="1" dirty="0">
                <a:solidFill>
                  <a:srgbClr val="A3E635"/>
                </a:solidFill>
                <a:latin typeface="Calibri" pitchFamily="34" charset="0"/>
                <a:ea typeface="Calibri" pitchFamily="34" charset="-122"/>
                <a:cs typeface="Calibri" pitchFamily="34" charset="-120"/>
              </a:rPr>
              <a:t>Sport</a:t>
            </a:r>
            <a:endParaRPr lang="en-US" sz="2600" dirty="0"/>
          </a:p>
        </p:txBody>
      </p:sp>
      <p:sp>
        <p:nvSpPr>
          <p:cNvPr id="6" name="Text 3"/>
          <p:cNvSpPr/>
          <p:nvPr/>
        </p:nvSpPr>
        <p:spPr>
          <a:xfrm>
            <a:off x="685800" y="2286000"/>
            <a:ext cx="6035040" cy="18288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Calibri" pitchFamily="34" charset="0"/>
                <a:ea typeface="Calibri" pitchFamily="34" charset="-122"/>
                <a:cs typeface="Calibri" pitchFamily="34" charset="-120"/>
              </a:rPr>
              <a:t>Reservas y tienda</a:t>
            </a:r>
            <a:endParaRPr lang="en-US" sz="4600" dirty="0"/>
          </a:p>
          <a:p>
            <a:pPr indent="0" marL="0">
              <a:lnSpc>
                <a:spcPts val="4800"/>
              </a:lnSpc>
              <a:buNone/>
            </a:pPr>
            <a:r>
              <a:rPr lang="en-US" sz="4600" b="1" dirty="0">
                <a:solidFill>
                  <a:srgbClr val="FFFFFF"/>
                </a:solidFill>
                <a:latin typeface="Calibri" pitchFamily="34" charset="0"/>
                <a:ea typeface="Calibri" pitchFamily="34" charset="-122"/>
                <a:cs typeface="Calibri" pitchFamily="34" charset="-120"/>
              </a:rPr>
              <a:t>en línea</a:t>
            </a:r>
            <a:endParaRPr lang="en-US" sz="4600" dirty="0"/>
          </a:p>
        </p:txBody>
      </p:sp>
      <p:sp>
        <p:nvSpPr>
          <p:cNvPr id="7" name="Text 4"/>
          <p:cNvSpPr/>
          <p:nvPr/>
        </p:nvSpPr>
        <p:spPr>
          <a:xfrm>
            <a:off x="685800" y="4114800"/>
            <a:ext cx="5760720" cy="914400"/>
          </a:xfrm>
          <a:prstGeom prst="rect">
            <a:avLst/>
          </a:prstGeom>
          <a:noFill/>
          <a:ln/>
        </p:spPr>
        <p:txBody>
          <a:bodyPr wrap="square" lIns="0" tIns="0" rIns="0" bIns="0" rtlCol="0" anchor="ctr"/>
          <a:lstStyle/>
          <a:p>
            <a:pPr indent="0" marL="0">
              <a:buNone/>
            </a:pPr>
            <a:r>
              <a:rPr lang="en-US" sz="1500" dirty="0">
                <a:solidFill>
                  <a:srgbClr val="B9CCC3"/>
                </a:solidFill>
                <a:latin typeface="Calibri" pitchFamily="34" charset="0"/>
                <a:ea typeface="Calibri" pitchFamily="34" charset="-122"/>
                <a:cs typeface="Calibri" pitchFamily="34" charset="-120"/>
              </a:rPr>
              <a:t>Cómo construimos la plataforma del centro deportivo, cómo funciona por dentro y qué la hace confiable.</a:t>
            </a:r>
            <a:endParaRPr lang="en-US" sz="1500" dirty="0"/>
          </a:p>
        </p:txBody>
      </p:sp>
      <p:sp>
        <p:nvSpPr>
          <p:cNvPr id="8" name="Text 5"/>
          <p:cNvSpPr/>
          <p:nvPr/>
        </p:nvSpPr>
        <p:spPr>
          <a:xfrm>
            <a:off x="685800" y="5852160"/>
            <a:ext cx="5943600" cy="365760"/>
          </a:xfrm>
          <a:prstGeom prst="rect">
            <a:avLst/>
          </a:prstGeom>
          <a:noFill/>
          <a:ln/>
        </p:spPr>
        <p:txBody>
          <a:bodyPr wrap="square" lIns="0" tIns="0" rIns="0" bIns="0" rtlCol="0" anchor="ctr"/>
          <a:lstStyle/>
          <a:p>
            <a:pPr indent="0" marL="0">
              <a:buNone/>
            </a:pPr>
            <a:r>
              <a:rPr lang="en-US" sz="1200" dirty="0">
                <a:solidFill>
                  <a:srgbClr val="8FA69C"/>
                </a:solidFill>
                <a:latin typeface="Calibri" pitchFamily="34" charset="0"/>
                <a:ea typeface="Calibri" pitchFamily="34" charset="-122"/>
                <a:cs typeface="Calibri" pitchFamily="34" charset="-120"/>
              </a:rPr>
              <a:t>DIA-309 Negocios Electrónicos  ·  UNAH  ·  II PAC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Reservar por teléfono tiene tres agujeros</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Así se manejaba antes: una llamada o un mensaje de WhatsApp por cada reserva.</a:t>
            </a:r>
            <a:endParaRPr lang="en-US" sz="1500" dirty="0"/>
          </a:p>
        </p:txBody>
      </p:sp>
      <p:sp>
        <p:nvSpPr>
          <p:cNvPr id="4" name="Shape 2"/>
          <p:cNvSpPr/>
          <p:nvPr/>
        </p:nvSpPr>
        <p:spPr>
          <a:xfrm>
            <a:off x="640080" y="1874520"/>
            <a:ext cx="502920" cy="502920"/>
          </a:xfrm>
          <a:prstGeom prst="ellipse">
            <a:avLst/>
          </a:prstGeom>
          <a:solidFill>
            <a:srgbClr val="16A34A"/>
          </a:solidFill>
          <a:ln/>
        </p:spPr>
      </p:sp>
      <p:sp>
        <p:nvSpPr>
          <p:cNvPr id="5" name="Text 3"/>
          <p:cNvSpPr/>
          <p:nvPr/>
        </p:nvSpPr>
        <p:spPr>
          <a:xfrm>
            <a:off x="640080"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828800"/>
            <a:ext cx="512064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El cliente no sabe qué hay libre</a:t>
            </a:r>
            <a:endParaRPr lang="en-US" sz="1700" dirty="0"/>
          </a:p>
        </p:txBody>
      </p:sp>
      <p:sp>
        <p:nvSpPr>
          <p:cNvPr id="7" name="Text 5"/>
          <p:cNvSpPr/>
          <p:nvPr/>
        </p:nvSpPr>
        <p:spPr>
          <a:xfrm>
            <a:off x="1371600" y="2221992"/>
            <a:ext cx="5212080" cy="73152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Tiene que preguntar y esperar respuesta para enterarse de si su horario está disponible.</a:t>
            </a:r>
            <a:endParaRPr lang="en-US" sz="1300" dirty="0"/>
          </a:p>
        </p:txBody>
      </p:sp>
      <p:sp>
        <p:nvSpPr>
          <p:cNvPr id="8" name="Shape 6"/>
          <p:cNvSpPr/>
          <p:nvPr/>
        </p:nvSpPr>
        <p:spPr>
          <a:xfrm>
            <a:off x="640080" y="3246120"/>
            <a:ext cx="502920" cy="502920"/>
          </a:xfrm>
          <a:prstGeom prst="ellipse">
            <a:avLst/>
          </a:prstGeom>
          <a:solidFill>
            <a:srgbClr val="16A34A"/>
          </a:solidFill>
          <a:ln/>
        </p:spPr>
      </p:sp>
      <p:sp>
        <p:nvSpPr>
          <p:cNvPr id="9" name="Text 7"/>
          <p:cNvSpPr/>
          <p:nvPr/>
        </p:nvSpPr>
        <p:spPr>
          <a:xfrm>
            <a:off x="640080" y="3246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371600" y="3200400"/>
            <a:ext cx="512064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Dos personas piden la misma hora</a:t>
            </a:r>
            <a:endParaRPr lang="en-US" sz="1700" dirty="0"/>
          </a:p>
        </p:txBody>
      </p:sp>
      <p:sp>
        <p:nvSpPr>
          <p:cNvPr id="11" name="Text 9"/>
          <p:cNvSpPr/>
          <p:nvPr/>
        </p:nvSpPr>
        <p:spPr>
          <a:xfrm>
            <a:off x="1371600" y="3593592"/>
            <a:ext cx="5212080" cy="73152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Si dos escriben casi al mismo tiempo, alguien se queda sin cancha después de creer que la tenía.</a:t>
            </a:r>
            <a:endParaRPr lang="en-US" sz="1300" dirty="0"/>
          </a:p>
        </p:txBody>
      </p:sp>
      <p:sp>
        <p:nvSpPr>
          <p:cNvPr id="12" name="Shape 10"/>
          <p:cNvSpPr/>
          <p:nvPr/>
        </p:nvSpPr>
        <p:spPr>
          <a:xfrm>
            <a:off x="640080" y="4617720"/>
            <a:ext cx="502920" cy="502920"/>
          </a:xfrm>
          <a:prstGeom prst="ellipse">
            <a:avLst/>
          </a:prstGeom>
          <a:solidFill>
            <a:srgbClr val="16A34A"/>
          </a:solidFill>
          <a:ln/>
        </p:spPr>
      </p:sp>
      <p:sp>
        <p:nvSpPr>
          <p:cNvPr id="13" name="Text 11"/>
          <p:cNvSpPr/>
          <p:nvPr/>
        </p:nvSpPr>
        <p:spPr>
          <a:xfrm>
            <a:off x="640080" y="4617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371600" y="4572000"/>
            <a:ext cx="512064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El control vive en una libreta</a:t>
            </a:r>
            <a:endParaRPr lang="en-US" sz="1700" dirty="0"/>
          </a:p>
        </p:txBody>
      </p:sp>
      <p:sp>
        <p:nvSpPr>
          <p:cNvPr id="15" name="Text 13"/>
          <p:cNvSpPr/>
          <p:nvPr/>
        </p:nvSpPr>
        <p:spPr>
          <a:xfrm>
            <a:off x="1371600" y="4965192"/>
            <a:ext cx="5212080" cy="73152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Las reservas dependen de quien contestó el teléfono. Si no está, nadie sabe qué hay agendado.</a:t>
            </a:r>
            <a:endParaRPr lang="en-US" sz="1300" dirty="0"/>
          </a:p>
        </p:txBody>
      </p:sp>
      <p:pic>
        <p:nvPicPr>
          <p:cNvPr id="16" name="Image 0" descr="C:/Users/ylime/Documents/gamasport/img/cancha-diurna.jpg">    </p:cNvPr>
          <p:cNvPicPr>
            <a:picLocks noChangeAspect="1"/>
          </p:cNvPicPr>
          <p:nvPr/>
        </p:nvPicPr>
        <p:blipFill>
          <a:blip r:embed="rId1"/>
          <a:stretch>
            <a:fillRect/>
          </a:stretch>
        </p:blipFill>
        <p:spPr>
          <a:xfrm>
            <a:off x="7223760" y="1783080"/>
            <a:ext cx="4343400" cy="3291840"/>
          </a:xfrm>
          <a:prstGeom prst="ellipse">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La plataforma responde con tres piezas</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Cada una resuelve uno de los agujeros anteriores.</a:t>
            </a:r>
            <a:endParaRPr lang="en-US" sz="1500" dirty="0"/>
          </a:p>
        </p:txBody>
      </p:sp>
      <p:sp>
        <p:nvSpPr>
          <p:cNvPr id="4" name="Shape 2"/>
          <p:cNvSpPr/>
          <p:nvPr/>
        </p:nvSpPr>
        <p:spPr>
          <a:xfrm>
            <a:off x="594360" y="1920240"/>
            <a:ext cx="3520440" cy="3017520"/>
          </a:xfrm>
          <a:prstGeom prst="roundRect">
            <a:avLst>
              <a:gd name="adj" fmla="val 3636"/>
            </a:avLst>
          </a:prstGeom>
          <a:solidFill>
            <a:srgbClr val="F4F8F5"/>
          </a:solidFill>
          <a:ln w="12700">
            <a:solidFill>
              <a:srgbClr val="E2EAE5"/>
            </a:solidFill>
            <a:prstDash val="solid"/>
          </a:ln>
        </p:spPr>
      </p:sp>
      <p:sp>
        <p:nvSpPr>
          <p:cNvPr id="5" name="Shape 3"/>
          <p:cNvSpPr/>
          <p:nvPr/>
        </p:nvSpPr>
        <p:spPr>
          <a:xfrm>
            <a:off x="914400" y="2240280"/>
            <a:ext cx="502920" cy="502920"/>
          </a:xfrm>
          <a:prstGeom prst="ellipse">
            <a:avLst/>
          </a:prstGeom>
          <a:solidFill>
            <a:srgbClr val="16A34A"/>
          </a:solidFill>
          <a:ln/>
        </p:spPr>
      </p:sp>
      <p:sp>
        <p:nvSpPr>
          <p:cNvPr id="6" name="Text 4"/>
          <p:cNvSpPr/>
          <p:nvPr/>
        </p:nvSpPr>
        <p:spPr>
          <a:xfrm>
            <a:off x="914400"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14400" y="2926080"/>
            <a:ext cx="2880360" cy="411480"/>
          </a:xfrm>
          <a:prstGeom prst="rect">
            <a:avLst/>
          </a:prstGeom>
          <a:noFill/>
          <a:ln/>
        </p:spPr>
        <p:txBody>
          <a:bodyPr wrap="square" lIns="0" tIns="0" rIns="0" bIns="0" rtlCol="0" anchor="ctr"/>
          <a:lstStyle/>
          <a:p>
            <a:pPr indent="0" marL="0">
              <a:buNone/>
            </a:pPr>
            <a:r>
              <a:rPr lang="en-US" sz="2000" b="1" dirty="0">
                <a:solidFill>
                  <a:srgbClr val="0A1C24"/>
                </a:solidFill>
                <a:latin typeface="Calibri" pitchFamily="34" charset="0"/>
                <a:ea typeface="Calibri" pitchFamily="34" charset="-122"/>
                <a:cs typeface="Calibri" pitchFamily="34" charset="-120"/>
              </a:rPr>
              <a:t>Catálogo</a:t>
            </a:r>
            <a:endParaRPr lang="en-US" sz="2000" dirty="0"/>
          </a:p>
        </p:txBody>
      </p:sp>
      <p:sp>
        <p:nvSpPr>
          <p:cNvPr id="8" name="Text 6"/>
          <p:cNvSpPr/>
          <p:nvPr/>
        </p:nvSpPr>
        <p:spPr>
          <a:xfrm>
            <a:off x="914400" y="3383280"/>
            <a:ext cx="2880360" cy="128016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Once servicios con su precio, sus cupos y su disponibilidad, visibles sin preguntar a nadie.</a:t>
            </a:r>
            <a:endParaRPr lang="en-US" sz="1300" dirty="0"/>
          </a:p>
        </p:txBody>
      </p:sp>
      <p:sp>
        <p:nvSpPr>
          <p:cNvPr id="9" name="Shape 7"/>
          <p:cNvSpPr/>
          <p:nvPr/>
        </p:nvSpPr>
        <p:spPr>
          <a:xfrm>
            <a:off x="4389120" y="1920240"/>
            <a:ext cx="3520440" cy="3017520"/>
          </a:xfrm>
          <a:prstGeom prst="roundRect">
            <a:avLst>
              <a:gd name="adj" fmla="val 3636"/>
            </a:avLst>
          </a:prstGeom>
          <a:solidFill>
            <a:srgbClr val="F4F8F5"/>
          </a:solidFill>
          <a:ln w="12700">
            <a:solidFill>
              <a:srgbClr val="E2EAE5"/>
            </a:solidFill>
            <a:prstDash val="solid"/>
          </a:ln>
        </p:spPr>
      </p:sp>
      <p:sp>
        <p:nvSpPr>
          <p:cNvPr id="10" name="Shape 8"/>
          <p:cNvSpPr/>
          <p:nvPr/>
        </p:nvSpPr>
        <p:spPr>
          <a:xfrm>
            <a:off x="4709160" y="2240280"/>
            <a:ext cx="502920" cy="502920"/>
          </a:xfrm>
          <a:prstGeom prst="ellipse">
            <a:avLst/>
          </a:prstGeom>
          <a:solidFill>
            <a:srgbClr val="16A34A"/>
          </a:solidFill>
          <a:ln/>
        </p:spPr>
      </p:sp>
      <p:sp>
        <p:nvSpPr>
          <p:cNvPr id="11" name="Text 9"/>
          <p:cNvSpPr/>
          <p:nvPr/>
        </p:nvSpPr>
        <p:spPr>
          <a:xfrm>
            <a:off x="4709160"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709160" y="2926080"/>
            <a:ext cx="2880360" cy="411480"/>
          </a:xfrm>
          <a:prstGeom prst="rect">
            <a:avLst/>
          </a:prstGeom>
          <a:noFill/>
          <a:ln/>
        </p:spPr>
        <p:txBody>
          <a:bodyPr wrap="square" lIns="0" tIns="0" rIns="0" bIns="0" rtlCol="0" anchor="ctr"/>
          <a:lstStyle/>
          <a:p>
            <a:pPr indent="0" marL="0">
              <a:buNone/>
            </a:pPr>
            <a:r>
              <a:rPr lang="en-US" sz="2000" b="1" dirty="0">
                <a:solidFill>
                  <a:srgbClr val="0A1C24"/>
                </a:solidFill>
                <a:latin typeface="Calibri" pitchFamily="34" charset="0"/>
                <a:ea typeface="Calibri" pitchFamily="34" charset="-122"/>
                <a:cs typeface="Calibri" pitchFamily="34" charset="-120"/>
              </a:rPr>
              <a:t>Reserva en línea</a:t>
            </a:r>
            <a:endParaRPr lang="en-US" sz="2000" dirty="0"/>
          </a:p>
        </p:txBody>
      </p:sp>
      <p:sp>
        <p:nvSpPr>
          <p:cNvPr id="13" name="Text 11"/>
          <p:cNvSpPr/>
          <p:nvPr/>
        </p:nvSpPr>
        <p:spPr>
          <a:xfrm>
            <a:off x="4709160" y="3383280"/>
            <a:ext cx="2880360" cy="128016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El cliente elige fecha y hora entre las que de verdad están libres, y recibe su comprobante.</a:t>
            </a:r>
            <a:endParaRPr lang="en-US" sz="1300" dirty="0"/>
          </a:p>
        </p:txBody>
      </p:sp>
      <p:sp>
        <p:nvSpPr>
          <p:cNvPr id="14" name="Shape 12"/>
          <p:cNvSpPr/>
          <p:nvPr/>
        </p:nvSpPr>
        <p:spPr>
          <a:xfrm>
            <a:off x="8183880" y="1920240"/>
            <a:ext cx="3520440" cy="3017520"/>
          </a:xfrm>
          <a:prstGeom prst="roundRect">
            <a:avLst>
              <a:gd name="adj" fmla="val 3636"/>
            </a:avLst>
          </a:prstGeom>
          <a:solidFill>
            <a:srgbClr val="F4F8F5"/>
          </a:solidFill>
          <a:ln w="12700">
            <a:solidFill>
              <a:srgbClr val="E2EAE5"/>
            </a:solidFill>
            <a:prstDash val="solid"/>
          </a:ln>
        </p:spPr>
      </p:sp>
      <p:sp>
        <p:nvSpPr>
          <p:cNvPr id="15" name="Shape 13"/>
          <p:cNvSpPr/>
          <p:nvPr/>
        </p:nvSpPr>
        <p:spPr>
          <a:xfrm>
            <a:off x="8503920" y="2240280"/>
            <a:ext cx="502920" cy="502920"/>
          </a:xfrm>
          <a:prstGeom prst="ellipse">
            <a:avLst/>
          </a:prstGeom>
          <a:solidFill>
            <a:srgbClr val="16A34A"/>
          </a:solidFill>
          <a:ln/>
        </p:spPr>
      </p:sp>
      <p:sp>
        <p:nvSpPr>
          <p:cNvPr id="16" name="Text 14"/>
          <p:cNvSpPr/>
          <p:nvPr/>
        </p:nvSpPr>
        <p:spPr>
          <a:xfrm>
            <a:off x="8503920" y="2240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503920" y="2926080"/>
            <a:ext cx="2880360" cy="411480"/>
          </a:xfrm>
          <a:prstGeom prst="rect">
            <a:avLst/>
          </a:prstGeom>
          <a:noFill/>
          <a:ln/>
        </p:spPr>
        <p:txBody>
          <a:bodyPr wrap="square" lIns="0" tIns="0" rIns="0" bIns="0" rtlCol="0" anchor="ctr"/>
          <a:lstStyle/>
          <a:p>
            <a:pPr indent="0" marL="0">
              <a:buNone/>
            </a:pPr>
            <a:r>
              <a:rPr lang="en-US" sz="2000" b="1" dirty="0">
                <a:solidFill>
                  <a:srgbClr val="0A1C24"/>
                </a:solidFill>
                <a:latin typeface="Calibri" pitchFamily="34" charset="0"/>
                <a:ea typeface="Calibri" pitchFamily="34" charset="-122"/>
                <a:cs typeface="Calibri" pitchFamily="34" charset="-120"/>
              </a:rPr>
              <a:t>Panel del personal</a:t>
            </a:r>
            <a:endParaRPr lang="en-US" sz="2000" dirty="0"/>
          </a:p>
        </p:txBody>
      </p:sp>
      <p:sp>
        <p:nvSpPr>
          <p:cNvPr id="18" name="Text 16"/>
          <p:cNvSpPr/>
          <p:nvPr/>
        </p:nvSpPr>
        <p:spPr>
          <a:xfrm>
            <a:off x="8503920" y="3383280"/>
            <a:ext cx="2880360" cy="128016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Todas las reservas en un solo lugar, con estados, precios, cupos y bloqueo de horarios.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Qué se puede hacer en el sitio</a:t>
            </a:r>
            <a:endParaRPr lang="en-US" sz="3400" dirty="0"/>
          </a:p>
        </p:txBody>
      </p:sp>
      <p:sp>
        <p:nvSpPr>
          <p:cNvPr id="3" name="Shape 1"/>
          <p:cNvSpPr/>
          <p:nvPr/>
        </p:nvSpPr>
        <p:spPr>
          <a:xfrm>
            <a:off x="594360" y="1600200"/>
            <a:ext cx="3520440" cy="1965960"/>
          </a:xfrm>
          <a:prstGeom prst="roundRect">
            <a:avLst>
              <a:gd name="adj" fmla="val 5581"/>
            </a:avLst>
          </a:prstGeom>
          <a:solidFill>
            <a:srgbClr val="F4F8F5"/>
          </a:solidFill>
          <a:ln w="12700">
            <a:solidFill>
              <a:srgbClr val="E2EAE5"/>
            </a:solidFill>
            <a:prstDash val="solid"/>
          </a:ln>
        </p:spPr>
      </p:sp>
      <p:sp>
        <p:nvSpPr>
          <p:cNvPr id="4" name="Shape 2"/>
          <p:cNvSpPr/>
          <p:nvPr/>
        </p:nvSpPr>
        <p:spPr>
          <a:xfrm>
            <a:off x="886968" y="1874520"/>
            <a:ext cx="365760" cy="365760"/>
          </a:xfrm>
          <a:prstGeom prst="ellipse">
            <a:avLst/>
          </a:prstGeom>
          <a:solidFill>
            <a:srgbClr val="A3E635"/>
          </a:solidFill>
          <a:ln/>
        </p:spPr>
      </p:sp>
      <p:sp>
        <p:nvSpPr>
          <p:cNvPr id="5" name="Text 3"/>
          <p:cNvSpPr/>
          <p:nvPr/>
        </p:nvSpPr>
        <p:spPr>
          <a:xfrm>
            <a:off x="886968" y="1874520"/>
            <a:ext cx="365760" cy="365760"/>
          </a:xfrm>
          <a:prstGeom prst="rect">
            <a:avLst/>
          </a:prstGeom>
          <a:noFill/>
          <a:ln/>
        </p:spPr>
        <p:txBody>
          <a:bodyPr wrap="square" lIns="0" tIns="0" rIns="0" bIns="0" rtlCol="0" anchor="ctr"/>
          <a:lstStyle/>
          <a:p>
            <a:pPr algn="ctr" indent="0" marL="0">
              <a:buNone/>
            </a:pPr>
            <a:endParaRPr lang="en-US" sz="1600" dirty="0"/>
          </a:p>
        </p:txBody>
      </p:sp>
      <p:sp>
        <p:nvSpPr>
          <p:cNvPr id="6" name="Text 4"/>
          <p:cNvSpPr/>
          <p:nvPr/>
        </p:nvSpPr>
        <p:spPr>
          <a:xfrm>
            <a:off x="886968" y="237744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Reservar cancha</a:t>
            </a:r>
            <a:endParaRPr lang="en-US" sz="1700" dirty="0"/>
          </a:p>
        </p:txBody>
      </p:sp>
      <p:sp>
        <p:nvSpPr>
          <p:cNvPr id="7" name="Text 5"/>
          <p:cNvSpPr/>
          <p:nvPr/>
        </p:nvSpPr>
        <p:spPr>
          <a:xfrm>
            <a:off x="886968" y="277063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Diurna o nocturna, por hora, con la disponibilidad al día.</a:t>
            </a:r>
            <a:endParaRPr lang="en-US" sz="1250" dirty="0"/>
          </a:p>
        </p:txBody>
      </p:sp>
      <p:sp>
        <p:nvSpPr>
          <p:cNvPr id="8" name="Shape 6"/>
          <p:cNvSpPr/>
          <p:nvPr/>
        </p:nvSpPr>
        <p:spPr>
          <a:xfrm>
            <a:off x="4389120" y="1600200"/>
            <a:ext cx="3520440" cy="1965960"/>
          </a:xfrm>
          <a:prstGeom prst="roundRect">
            <a:avLst>
              <a:gd name="adj" fmla="val 5581"/>
            </a:avLst>
          </a:prstGeom>
          <a:solidFill>
            <a:srgbClr val="F4F8F5"/>
          </a:solidFill>
          <a:ln w="12700">
            <a:solidFill>
              <a:srgbClr val="E2EAE5"/>
            </a:solidFill>
            <a:prstDash val="solid"/>
          </a:ln>
        </p:spPr>
      </p:sp>
      <p:sp>
        <p:nvSpPr>
          <p:cNvPr id="9" name="Shape 7"/>
          <p:cNvSpPr/>
          <p:nvPr/>
        </p:nvSpPr>
        <p:spPr>
          <a:xfrm>
            <a:off x="4681728" y="1874520"/>
            <a:ext cx="365760" cy="365760"/>
          </a:xfrm>
          <a:prstGeom prst="ellipse">
            <a:avLst/>
          </a:prstGeom>
          <a:solidFill>
            <a:srgbClr val="A3E635"/>
          </a:solidFill>
          <a:ln/>
        </p:spPr>
      </p:sp>
      <p:sp>
        <p:nvSpPr>
          <p:cNvPr id="10" name="Text 8"/>
          <p:cNvSpPr/>
          <p:nvPr/>
        </p:nvSpPr>
        <p:spPr>
          <a:xfrm>
            <a:off x="4681728" y="1874520"/>
            <a:ext cx="365760" cy="365760"/>
          </a:xfrm>
          <a:prstGeom prst="rect">
            <a:avLst/>
          </a:prstGeom>
          <a:noFill/>
          <a:ln/>
        </p:spPr>
        <p:txBody>
          <a:bodyPr wrap="square" lIns="0" tIns="0" rIns="0" bIns="0" rtlCol="0" anchor="ctr"/>
          <a:lstStyle/>
          <a:p>
            <a:pPr algn="ctr" indent="0" marL="0">
              <a:buNone/>
            </a:pPr>
            <a:endParaRPr lang="en-US" sz="1600" dirty="0"/>
          </a:p>
        </p:txBody>
      </p:sp>
      <p:sp>
        <p:nvSpPr>
          <p:cNvPr id="11" name="Text 9"/>
          <p:cNvSpPr/>
          <p:nvPr/>
        </p:nvSpPr>
        <p:spPr>
          <a:xfrm>
            <a:off x="4681728" y="237744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Torneos y eventos</a:t>
            </a:r>
            <a:endParaRPr lang="en-US" sz="1700" dirty="0"/>
          </a:p>
        </p:txBody>
      </p:sp>
      <p:sp>
        <p:nvSpPr>
          <p:cNvPr id="12" name="Text 10"/>
          <p:cNvSpPr/>
          <p:nvPr/>
        </p:nvSpPr>
        <p:spPr>
          <a:xfrm>
            <a:off x="4681728" y="277063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Inscripción de equipos, eventos privados y cumpleaños.</a:t>
            </a:r>
            <a:endParaRPr lang="en-US" sz="1250" dirty="0"/>
          </a:p>
        </p:txBody>
      </p:sp>
      <p:sp>
        <p:nvSpPr>
          <p:cNvPr id="13" name="Shape 11"/>
          <p:cNvSpPr/>
          <p:nvPr/>
        </p:nvSpPr>
        <p:spPr>
          <a:xfrm>
            <a:off x="8183880" y="1600200"/>
            <a:ext cx="3520440" cy="1965960"/>
          </a:xfrm>
          <a:prstGeom prst="roundRect">
            <a:avLst>
              <a:gd name="adj" fmla="val 5581"/>
            </a:avLst>
          </a:prstGeom>
          <a:solidFill>
            <a:srgbClr val="F4F8F5"/>
          </a:solidFill>
          <a:ln w="12700">
            <a:solidFill>
              <a:srgbClr val="E2EAE5"/>
            </a:solidFill>
            <a:prstDash val="solid"/>
          </a:ln>
        </p:spPr>
      </p:sp>
      <p:sp>
        <p:nvSpPr>
          <p:cNvPr id="14" name="Shape 12"/>
          <p:cNvSpPr/>
          <p:nvPr/>
        </p:nvSpPr>
        <p:spPr>
          <a:xfrm>
            <a:off x="8476488" y="1874520"/>
            <a:ext cx="365760" cy="365760"/>
          </a:xfrm>
          <a:prstGeom prst="ellipse">
            <a:avLst/>
          </a:prstGeom>
          <a:solidFill>
            <a:srgbClr val="A3E635"/>
          </a:solidFill>
          <a:ln/>
        </p:spPr>
      </p:sp>
      <p:sp>
        <p:nvSpPr>
          <p:cNvPr id="15" name="Text 13"/>
          <p:cNvSpPr/>
          <p:nvPr/>
        </p:nvSpPr>
        <p:spPr>
          <a:xfrm>
            <a:off x="8476488" y="1874520"/>
            <a:ext cx="365760" cy="365760"/>
          </a:xfrm>
          <a:prstGeom prst="rect">
            <a:avLst/>
          </a:prstGeom>
          <a:noFill/>
          <a:ln/>
        </p:spPr>
        <p:txBody>
          <a:bodyPr wrap="square" lIns="0" tIns="0" rIns="0" bIns="0" rtlCol="0" anchor="ctr"/>
          <a:lstStyle/>
          <a:p>
            <a:pPr algn="ctr" indent="0" marL="0">
              <a:buNone/>
            </a:pPr>
            <a:endParaRPr lang="en-US" sz="1600" dirty="0"/>
          </a:p>
        </p:txBody>
      </p:sp>
      <p:sp>
        <p:nvSpPr>
          <p:cNvPr id="16" name="Text 14"/>
          <p:cNvSpPr/>
          <p:nvPr/>
        </p:nvSpPr>
        <p:spPr>
          <a:xfrm>
            <a:off x="8476488" y="237744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Pedir del restaurante</a:t>
            </a:r>
            <a:endParaRPr lang="en-US" sz="1700" dirty="0"/>
          </a:p>
        </p:txBody>
      </p:sp>
      <p:sp>
        <p:nvSpPr>
          <p:cNvPr id="17" name="Text 15"/>
          <p:cNvSpPr/>
          <p:nvPr/>
        </p:nvSpPr>
        <p:spPr>
          <a:xfrm>
            <a:off x="8476488" y="277063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Combos, boquitas y bebidas listas al terminar el partido.</a:t>
            </a:r>
            <a:endParaRPr lang="en-US" sz="1250" dirty="0"/>
          </a:p>
        </p:txBody>
      </p:sp>
      <p:sp>
        <p:nvSpPr>
          <p:cNvPr id="18" name="Shape 16"/>
          <p:cNvSpPr/>
          <p:nvPr/>
        </p:nvSpPr>
        <p:spPr>
          <a:xfrm>
            <a:off x="594360" y="3931920"/>
            <a:ext cx="3520440" cy="1965960"/>
          </a:xfrm>
          <a:prstGeom prst="roundRect">
            <a:avLst>
              <a:gd name="adj" fmla="val 5581"/>
            </a:avLst>
          </a:prstGeom>
          <a:solidFill>
            <a:srgbClr val="F4F8F5"/>
          </a:solidFill>
          <a:ln w="12700">
            <a:solidFill>
              <a:srgbClr val="E2EAE5"/>
            </a:solidFill>
            <a:prstDash val="solid"/>
          </a:ln>
        </p:spPr>
      </p:sp>
      <p:sp>
        <p:nvSpPr>
          <p:cNvPr id="19" name="Shape 17"/>
          <p:cNvSpPr/>
          <p:nvPr/>
        </p:nvSpPr>
        <p:spPr>
          <a:xfrm>
            <a:off x="886968" y="4206240"/>
            <a:ext cx="365760" cy="365760"/>
          </a:xfrm>
          <a:prstGeom prst="ellipse">
            <a:avLst/>
          </a:prstGeom>
          <a:solidFill>
            <a:srgbClr val="A3E635"/>
          </a:solidFill>
          <a:ln/>
        </p:spPr>
      </p:sp>
      <p:sp>
        <p:nvSpPr>
          <p:cNvPr id="20" name="Text 18"/>
          <p:cNvSpPr/>
          <p:nvPr/>
        </p:nvSpPr>
        <p:spPr>
          <a:xfrm>
            <a:off x="886968" y="4206240"/>
            <a:ext cx="365760" cy="365760"/>
          </a:xfrm>
          <a:prstGeom prst="rect">
            <a:avLst/>
          </a:prstGeom>
          <a:noFill/>
          <a:ln/>
        </p:spPr>
        <p:txBody>
          <a:bodyPr wrap="square" lIns="0" tIns="0" rIns="0" bIns="0" rtlCol="0" anchor="ctr"/>
          <a:lstStyle/>
          <a:p>
            <a:pPr algn="ctr" indent="0" marL="0">
              <a:buNone/>
            </a:pPr>
            <a:endParaRPr lang="en-US" sz="1600" dirty="0"/>
          </a:p>
        </p:txBody>
      </p:sp>
      <p:sp>
        <p:nvSpPr>
          <p:cNvPr id="21" name="Text 19"/>
          <p:cNvSpPr/>
          <p:nvPr/>
        </p:nvSpPr>
        <p:spPr>
          <a:xfrm>
            <a:off x="886968" y="470916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Membresías y extras</a:t>
            </a:r>
            <a:endParaRPr lang="en-US" sz="1700" dirty="0"/>
          </a:p>
        </p:txBody>
      </p:sp>
      <p:sp>
        <p:nvSpPr>
          <p:cNvPr id="22" name="Text 20"/>
          <p:cNvSpPr/>
          <p:nvPr/>
        </p:nvSpPr>
        <p:spPr>
          <a:xfrm>
            <a:off x="886968" y="510235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Plan mensual para equipos fijos, alquiler de balón y petos.</a:t>
            </a:r>
            <a:endParaRPr lang="en-US" sz="1250" dirty="0"/>
          </a:p>
        </p:txBody>
      </p:sp>
      <p:sp>
        <p:nvSpPr>
          <p:cNvPr id="23" name="Shape 21"/>
          <p:cNvSpPr/>
          <p:nvPr/>
        </p:nvSpPr>
        <p:spPr>
          <a:xfrm>
            <a:off x="4389120" y="3931920"/>
            <a:ext cx="3520440" cy="1965960"/>
          </a:xfrm>
          <a:prstGeom prst="roundRect">
            <a:avLst>
              <a:gd name="adj" fmla="val 5581"/>
            </a:avLst>
          </a:prstGeom>
          <a:solidFill>
            <a:srgbClr val="F4F8F5"/>
          </a:solidFill>
          <a:ln w="12700">
            <a:solidFill>
              <a:srgbClr val="E2EAE5"/>
            </a:solidFill>
            <a:prstDash val="solid"/>
          </a:ln>
        </p:spPr>
      </p:sp>
      <p:sp>
        <p:nvSpPr>
          <p:cNvPr id="24" name="Shape 22"/>
          <p:cNvSpPr/>
          <p:nvPr/>
        </p:nvSpPr>
        <p:spPr>
          <a:xfrm>
            <a:off x="4681728" y="4206240"/>
            <a:ext cx="365760" cy="365760"/>
          </a:xfrm>
          <a:prstGeom prst="ellipse">
            <a:avLst/>
          </a:prstGeom>
          <a:solidFill>
            <a:srgbClr val="A3E635"/>
          </a:solidFill>
          <a:ln/>
        </p:spPr>
      </p:sp>
      <p:sp>
        <p:nvSpPr>
          <p:cNvPr id="25" name="Text 23"/>
          <p:cNvSpPr/>
          <p:nvPr/>
        </p:nvSpPr>
        <p:spPr>
          <a:xfrm>
            <a:off x="4681728" y="4206240"/>
            <a:ext cx="365760" cy="365760"/>
          </a:xfrm>
          <a:prstGeom prst="rect">
            <a:avLst/>
          </a:prstGeom>
          <a:noFill/>
          <a:ln/>
        </p:spPr>
        <p:txBody>
          <a:bodyPr wrap="square" lIns="0" tIns="0" rIns="0" bIns="0" rtlCol="0" anchor="ctr"/>
          <a:lstStyle/>
          <a:p>
            <a:pPr algn="ctr" indent="0" marL="0">
              <a:buNone/>
            </a:pPr>
            <a:endParaRPr lang="en-US" sz="1600" dirty="0"/>
          </a:p>
        </p:txBody>
      </p:sp>
      <p:sp>
        <p:nvSpPr>
          <p:cNvPr id="26" name="Text 24"/>
          <p:cNvSpPr/>
          <p:nvPr/>
        </p:nvSpPr>
        <p:spPr>
          <a:xfrm>
            <a:off x="4681728" y="470916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Usar cupones</a:t>
            </a:r>
            <a:endParaRPr lang="en-US" sz="1700" dirty="0"/>
          </a:p>
        </p:txBody>
      </p:sp>
      <p:sp>
        <p:nvSpPr>
          <p:cNvPr id="27" name="Text 25"/>
          <p:cNvSpPr/>
          <p:nvPr/>
        </p:nvSpPr>
        <p:spPr>
          <a:xfrm>
            <a:off x="4681728" y="510235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Tres códigos de descuento que se aplican en el carrito.</a:t>
            </a:r>
            <a:endParaRPr lang="en-US" sz="1250" dirty="0"/>
          </a:p>
        </p:txBody>
      </p:sp>
      <p:sp>
        <p:nvSpPr>
          <p:cNvPr id="28" name="Shape 26"/>
          <p:cNvSpPr/>
          <p:nvPr/>
        </p:nvSpPr>
        <p:spPr>
          <a:xfrm>
            <a:off x="8183880" y="3931920"/>
            <a:ext cx="3520440" cy="1965960"/>
          </a:xfrm>
          <a:prstGeom prst="roundRect">
            <a:avLst>
              <a:gd name="adj" fmla="val 5581"/>
            </a:avLst>
          </a:prstGeom>
          <a:solidFill>
            <a:srgbClr val="F4F8F5"/>
          </a:solidFill>
          <a:ln w="12700">
            <a:solidFill>
              <a:srgbClr val="E2EAE5"/>
            </a:solidFill>
            <a:prstDash val="solid"/>
          </a:ln>
        </p:spPr>
      </p:sp>
      <p:sp>
        <p:nvSpPr>
          <p:cNvPr id="29" name="Shape 27"/>
          <p:cNvSpPr/>
          <p:nvPr/>
        </p:nvSpPr>
        <p:spPr>
          <a:xfrm>
            <a:off x="8476488" y="4206240"/>
            <a:ext cx="365760" cy="365760"/>
          </a:xfrm>
          <a:prstGeom prst="ellipse">
            <a:avLst/>
          </a:prstGeom>
          <a:solidFill>
            <a:srgbClr val="A3E635"/>
          </a:solidFill>
          <a:ln/>
        </p:spPr>
      </p:sp>
      <p:sp>
        <p:nvSpPr>
          <p:cNvPr id="30" name="Text 28"/>
          <p:cNvSpPr/>
          <p:nvPr/>
        </p:nvSpPr>
        <p:spPr>
          <a:xfrm>
            <a:off x="8476488" y="4206240"/>
            <a:ext cx="365760" cy="365760"/>
          </a:xfrm>
          <a:prstGeom prst="rect">
            <a:avLst/>
          </a:prstGeom>
          <a:noFill/>
          <a:ln/>
        </p:spPr>
        <p:txBody>
          <a:bodyPr wrap="square" lIns="0" tIns="0" rIns="0" bIns="0" rtlCol="0" anchor="ctr"/>
          <a:lstStyle/>
          <a:p>
            <a:pPr algn="ctr" indent="0" marL="0">
              <a:buNone/>
            </a:pPr>
            <a:endParaRPr lang="en-US" sz="1600" dirty="0"/>
          </a:p>
        </p:txBody>
      </p:sp>
      <p:sp>
        <p:nvSpPr>
          <p:cNvPr id="31" name="Text 29"/>
          <p:cNvSpPr/>
          <p:nvPr/>
        </p:nvSpPr>
        <p:spPr>
          <a:xfrm>
            <a:off x="8476488" y="4709160"/>
            <a:ext cx="2926080" cy="365760"/>
          </a:xfrm>
          <a:prstGeom prst="rect">
            <a:avLst/>
          </a:prstGeom>
          <a:noFill/>
          <a:ln/>
        </p:spPr>
        <p:txBody>
          <a:bodyPr wrap="square" lIns="0" tIns="0" rIns="0" bIns="0" rtlCol="0" anchor="ctr"/>
          <a:lstStyle/>
          <a:p>
            <a:pPr indent="0" marL="0">
              <a:buNone/>
            </a:pPr>
            <a:r>
              <a:rPr lang="en-US" sz="1700" b="1" dirty="0">
                <a:solidFill>
                  <a:srgbClr val="0A1C24"/>
                </a:solidFill>
                <a:latin typeface="Calibri" pitchFamily="34" charset="0"/>
                <a:ea typeface="Calibri" pitchFamily="34" charset="-122"/>
                <a:cs typeface="Calibri" pitchFamily="34" charset="-120"/>
              </a:rPr>
              <a:t>Ver mis reservas</a:t>
            </a:r>
            <a:endParaRPr lang="en-US" sz="1700" dirty="0"/>
          </a:p>
        </p:txBody>
      </p:sp>
      <p:sp>
        <p:nvSpPr>
          <p:cNvPr id="32" name="Text 30"/>
          <p:cNvSpPr/>
          <p:nvPr/>
        </p:nvSpPr>
        <p:spPr>
          <a:xfrm>
            <a:off x="8476488" y="5102352"/>
            <a:ext cx="297180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Cada cliente entra con su cuenta y consulta su historial.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Con qué está construido y por qué</a:t>
            </a:r>
            <a:endParaRPr lang="en-US" sz="3400" dirty="0"/>
          </a:p>
        </p:txBody>
      </p:sp>
      <p:sp>
        <p:nvSpPr>
          <p:cNvPr id="3" name="Shape 1"/>
          <p:cNvSpPr/>
          <p:nvPr/>
        </p:nvSpPr>
        <p:spPr>
          <a:xfrm>
            <a:off x="594360" y="1600200"/>
            <a:ext cx="5394960" cy="1920240"/>
          </a:xfrm>
          <a:prstGeom prst="roundRect">
            <a:avLst>
              <a:gd name="adj" fmla="val 5714"/>
            </a:avLst>
          </a:prstGeom>
          <a:solidFill>
            <a:srgbClr val="F4F8F5"/>
          </a:solidFill>
          <a:ln w="12700">
            <a:solidFill>
              <a:srgbClr val="E2EAE5"/>
            </a:solidFill>
            <a:prstDash val="solid"/>
          </a:ln>
        </p:spPr>
      </p:sp>
      <p:sp>
        <p:nvSpPr>
          <p:cNvPr id="4" name="Text 2"/>
          <p:cNvSpPr/>
          <p:nvPr/>
        </p:nvSpPr>
        <p:spPr>
          <a:xfrm>
            <a:off x="960120" y="1892808"/>
            <a:ext cx="4663440" cy="365760"/>
          </a:xfrm>
          <a:prstGeom prst="rect">
            <a:avLst/>
          </a:prstGeom>
          <a:noFill/>
          <a:ln/>
        </p:spPr>
        <p:txBody>
          <a:bodyPr wrap="square" lIns="0" tIns="0" rIns="0" bIns="0" rtlCol="0" anchor="ctr"/>
          <a:lstStyle/>
          <a:p>
            <a:pPr indent="0" marL="0">
              <a:buNone/>
            </a:pPr>
            <a:r>
              <a:rPr lang="en-US" sz="1800" b="1" dirty="0">
                <a:solidFill>
                  <a:srgbClr val="0F7A37"/>
                </a:solidFill>
                <a:latin typeface="Calibri" pitchFamily="34" charset="0"/>
                <a:ea typeface="Calibri" pitchFamily="34" charset="-122"/>
                <a:cs typeface="Calibri" pitchFamily="34" charset="-120"/>
              </a:rPr>
              <a:t>HTML, CSS y JavaScript</a:t>
            </a:r>
            <a:endParaRPr lang="en-US" sz="1800" dirty="0"/>
          </a:p>
        </p:txBody>
      </p:sp>
      <p:sp>
        <p:nvSpPr>
          <p:cNvPr id="5" name="Text 3"/>
          <p:cNvSpPr/>
          <p:nvPr/>
        </p:nvSpPr>
        <p:spPr>
          <a:xfrm>
            <a:off x="960120" y="2377440"/>
            <a:ext cx="4754880" cy="9144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Sin frameworks ni compilación. Menos piezas que puedan fallar y código que cualquiera del equipo puede leer.</a:t>
            </a:r>
            <a:endParaRPr lang="en-US" sz="1300" dirty="0"/>
          </a:p>
        </p:txBody>
      </p:sp>
      <p:sp>
        <p:nvSpPr>
          <p:cNvPr id="6" name="Shape 4"/>
          <p:cNvSpPr/>
          <p:nvPr/>
        </p:nvSpPr>
        <p:spPr>
          <a:xfrm>
            <a:off x="6263640" y="1600200"/>
            <a:ext cx="5394960" cy="1920240"/>
          </a:xfrm>
          <a:prstGeom prst="roundRect">
            <a:avLst>
              <a:gd name="adj" fmla="val 5714"/>
            </a:avLst>
          </a:prstGeom>
          <a:solidFill>
            <a:srgbClr val="F4F8F5"/>
          </a:solidFill>
          <a:ln w="12700">
            <a:solidFill>
              <a:srgbClr val="E2EAE5"/>
            </a:solidFill>
            <a:prstDash val="solid"/>
          </a:ln>
        </p:spPr>
      </p:sp>
      <p:sp>
        <p:nvSpPr>
          <p:cNvPr id="7" name="Text 5"/>
          <p:cNvSpPr/>
          <p:nvPr/>
        </p:nvSpPr>
        <p:spPr>
          <a:xfrm>
            <a:off x="6629400" y="1892808"/>
            <a:ext cx="4663440" cy="365760"/>
          </a:xfrm>
          <a:prstGeom prst="rect">
            <a:avLst/>
          </a:prstGeom>
          <a:noFill/>
          <a:ln/>
        </p:spPr>
        <p:txBody>
          <a:bodyPr wrap="square" lIns="0" tIns="0" rIns="0" bIns="0" rtlCol="0" anchor="ctr"/>
          <a:lstStyle/>
          <a:p>
            <a:pPr indent="0" marL="0">
              <a:buNone/>
            </a:pPr>
            <a:r>
              <a:rPr lang="en-US" sz="1800" b="1" dirty="0">
                <a:solidFill>
                  <a:srgbClr val="0F7A37"/>
                </a:solidFill>
                <a:latin typeface="Calibri" pitchFamily="34" charset="0"/>
                <a:ea typeface="Calibri" pitchFamily="34" charset="-122"/>
                <a:cs typeface="Calibri" pitchFamily="34" charset="-120"/>
              </a:rPr>
              <a:t>Firebase Authentication</a:t>
            </a:r>
            <a:endParaRPr lang="en-US" sz="1800" dirty="0"/>
          </a:p>
        </p:txBody>
      </p:sp>
      <p:sp>
        <p:nvSpPr>
          <p:cNvPr id="8" name="Text 6"/>
          <p:cNvSpPr/>
          <p:nvPr/>
        </p:nvSpPr>
        <p:spPr>
          <a:xfrm>
            <a:off x="6629400" y="2377440"/>
            <a:ext cx="4754880" cy="9144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Google guarda y verifica las contraseñas. Escribir eso a mano es donde más fallan los proyectos.</a:t>
            </a:r>
            <a:endParaRPr lang="en-US" sz="1300" dirty="0"/>
          </a:p>
        </p:txBody>
      </p:sp>
      <p:sp>
        <p:nvSpPr>
          <p:cNvPr id="9" name="Shape 7"/>
          <p:cNvSpPr/>
          <p:nvPr/>
        </p:nvSpPr>
        <p:spPr>
          <a:xfrm>
            <a:off x="594360" y="3886200"/>
            <a:ext cx="5394960" cy="1920240"/>
          </a:xfrm>
          <a:prstGeom prst="roundRect">
            <a:avLst>
              <a:gd name="adj" fmla="val 5714"/>
            </a:avLst>
          </a:prstGeom>
          <a:solidFill>
            <a:srgbClr val="F4F8F5"/>
          </a:solidFill>
          <a:ln w="12700">
            <a:solidFill>
              <a:srgbClr val="E2EAE5"/>
            </a:solidFill>
            <a:prstDash val="solid"/>
          </a:ln>
        </p:spPr>
      </p:sp>
      <p:sp>
        <p:nvSpPr>
          <p:cNvPr id="10" name="Text 8"/>
          <p:cNvSpPr/>
          <p:nvPr/>
        </p:nvSpPr>
        <p:spPr>
          <a:xfrm>
            <a:off x="960120" y="4178808"/>
            <a:ext cx="4663440" cy="365760"/>
          </a:xfrm>
          <a:prstGeom prst="rect">
            <a:avLst/>
          </a:prstGeom>
          <a:noFill/>
          <a:ln/>
        </p:spPr>
        <p:txBody>
          <a:bodyPr wrap="square" lIns="0" tIns="0" rIns="0" bIns="0" rtlCol="0" anchor="ctr"/>
          <a:lstStyle/>
          <a:p>
            <a:pPr indent="0" marL="0">
              <a:buNone/>
            </a:pPr>
            <a:r>
              <a:rPr lang="en-US" sz="1800" b="1" dirty="0">
                <a:solidFill>
                  <a:srgbClr val="0F7A37"/>
                </a:solidFill>
                <a:latin typeface="Calibri" pitchFamily="34" charset="0"/>
                <a:ea typeface="Calibri" pitchFamily="34" charset="-122"/>
                <a:cs typeface="Calibri" pitchFamily="34" charset="-120"/>
              </a:rPr>
              <a:t>Firebase Firestore</a:t>
            </a:r>
            <a:endParaRPr lang="en-US" sz="1800" dirty="0"/>
          </a:p>
        </p:txBody>
      </p:sp>
      <p:sp>
        <p:nvSpPr>
          <p:cNvPr id="11" name="Text 9"/>
          <p:cNvSpPr/>
          <p:nvPr/>
        </p:nvSpPr>
        <p:spPr>
          <a:xfrm>
            <a:off x="960120" y="4663440"/>
            <a:ext cx="4754880" cy="9144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Base de datos en la nube con reglas de seguridad propias. Evita tener que programar y pagar un servidor.</a:t>
            </a:r>
            <a:endParaRPr lang="en-US" sz="1300" dirty="0"/>
          </a:p>
        </p:txBody>
      </p:sp>
      <p:sp>
        <p:nvSpPr>
          <p:cNvPr id="12" name="Shape 10"/>
          <p:cNvSpPr/>
          <p:nvPr/>
        </p:nvSpPr>
        <p:spPr>
          <a:xfrm>
            <a:off x="6263640" y="3886200"/>
            <a:ext cx="5394960" cy="1920240"/>
          </a:xfrm>
          <a:prstGeom prst="roundRect">
            <a:avLst>
              <a:gd name="adj" fmla="val 5714"/>
            </a:avLst>
          </a:prstGeom>
          <a:solidFill>
            <a:srgbClr val="F4F8F5"/>
          </a:solidFill>
          <a:ln w="12700">
            <a:solidFill>
              <a:srgbClr val="E2EAE5"/>
            </a:solidFill>
            <a:prstDash val="solid"/>
          </a:ln>
        </p:spPr>
      </p:sp>
      <p:sp>
        <p:nvSpPr>
          <p:cNvPr id="13" name="Text 11"/>
          <p:cNvSpPr/>
          <p:nvPr/>
        </p:nvSpPr>
        <p:spPr>
          <a:xfrm>
            <a:off x="6629400" y="4178808"/>
            <a:ext cx="4663440" cy="365760"/>
          </a:xfrm>
          <a:prstGeom prst="rect">
            <a:avLst/>
          </a:prstGeom>
          <a:noFill/>
          <a:ln/>
        </p:spPr>
        <p:txBody>
          <a:bodyPr wrap="square" lIns="0" tIns="0" rIns="0" bIns="0" rtlCol="0" anchor="ctr"/>
          <a:lstStyle/>
          <a:p>
            <a:pPr indent="0" marL="0">
              <a:buNone/>
            </a:pPr>
            <a:r>
              <a:rPr lang="en-US" sz="1800" b="1" dirty="0">
                <a:solidFill>
                  <a:srgbClr val="0F7A37"/>
                </a:solidFill>
                <a:latin typeface="Calibri" pitchFamily="34" charset="0"/>
                <a:ea typeface="Calibri" pitchFamily="34" charset="-122"/>
                <a:cs typeface="Calibri" pitchFamily="34" charset="-120"/>
              </a:rPr>
              <a:t>GitHub y GitHub Pages</a:t>
            </a:r>
            <a:endParaRPr lang="en-US" sz="1800" dirty="0"/>
          </a:p>
        </p:txBody>
      </p:sp>
      <p:sp>
        <p:nvSpPr>
          <p:cNvPr id="14" name="Text 12"/>
          <p:cNvSpPr/>
          <p:nvPr/>
        </p:nvSpPr>
        <p:spPr>
          <a:xfrm>
            <a:off x="6629400" y="4663440"/>
            <a:ext cx="4754880" cy="9144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Historial de cambios y publicación automática con HTTPS incluido, sin costo.</a:t>
            </a:r>
            <a:endParaRPr lang="en-US" sz="1300" dirty="0"/>
          </a:p>
        </p:txBody>
      </p:sp>
      <p:sp>
        <p:nvSpPr>
          <p:cNvPr id="15" name="Text 13"/>
          <p:cNvSpPr/>
          <p:nvPr/>
        </p:nvSpPr>
        <p:spPr>
          <a:xfrm>
            <a:off x="594360" y="5943600"/>
            <a:ext cx="10972800" cy="548640"/>
          </a:xfrm>
          <a:prstGeom prst="rect">
            <a:avLst/>
          </a:prstGeom>
          <a:noFill/>
          <a:ln/>
        </p:spPr>
        <p:txBody>
          <a:bodyPr wrap="square" lIns="0" tIns="0" rIns="0" bIns="0" rtlCol="0" anchor="ctr"/>
          <a:lstStyle/>
          <a:p>
            <a:pPr indent="0" marL="0">
              <a:buNone/>
            </a:pPr>
            <a:r>
              <a:rPr lang="en-US" sz="1350" i="1" dirty="0">
                <a:solidFill>
                  <a:srgbClr val="0A1C24"/>
                </a:solidFill>
                <a:latin typeface="Calibri" pitchFamily="34" charset="0"/>
                <a:ea typeface="Calibri" pitchFamily="34" charset="-122"/>
                <a:cs typeface="Calibri" pitchFamily="34" charset="-120"/>
              </a:rPr>
              <a:t>El sitio no carga ni una sola librería externa: ni jQuery, ni Bootstrap, ni fuentes de Google. Todo sale del propio sitio, así que carga rápido aunque el internet esté lento.</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Qué pasa cuando alguien entra al sitio</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El sitio es estático: toda la lógica corre en el navegador del visitante y lo permanente viaja a la nube.</a:t>
            </a:r>
            <a:endParaRPr lang="en-US" sz="1500" dirty="0"/>
          </a:p>
        </p:txBody>
      </p:sp>
      <p:sp>
        <p:nvSpPr>
          <p:cNvPr id="4" name="Shape 2"/>
          <p:cNvSpPr/>
          <p:nvPr/>
        </p:nvSpPr>
        <p:spPr>
          <a:xfrm>
            <a:off x="594360" y="1965960"/>
            <a:ext cx="3383280" cy="3200400"/>
          </a:xfrm>
          <a:prstGeom prst="roundRect">
            <a:avLst>
              <a:gd name="adj" fmla="val 3429"/>
            </a:avLst>
          </a:prstGeom>
          <a:solidFill>
            <a:srgbClr val="F4F8F5"/>
          </a:solidFill>
          <a:ln w="12700">
            <a:solidFill>
              <a:srgbClr val="E2EAE5"/>
            </a:solidFill>
            <a:prstDash val="solid"/>
          </a:ln>
        </p:spPr>
      </p:sp>
      <p:sp>
        <p:nvSpPr>
          <p:cNvPr id="5" name="Text 3"/>
          <p:cNvSpPr/>
          <p:nvPr/>
        </p:nvSpPr>
        <p:spPr>
          <a:xfrm>
            <a:off x="868680" y="2194560"/>
            <a:ext cx="283464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Navegador del cliente</a:t>
            </a:r>
            <a:endParaRPr lang="en-US" sz="1500" dirty="0"/>
          </a:p>
        </p:txBody>
      </p:sp>
      <p:sp>
        <p:nvSpPr>
          <p:cNvPr id="6" name="Text 4"/>
          <p:cNvSpPr/>
          <p:nvPr/>
        </p:nvSpPr>
        <p:spPr>
          <a:xfrm>
            <a:off x="868680" y="2697480"/>
            <a:ext cx="2926080"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Páginas, estilos y código</a:t>
            </a:r>
            <a:endParaRPr lang="en-US" sz="1250" dirty="0"/>
          </a:p>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Carrito y catálogo guardados</a:t>
            </a:r>
            <a:endParaRPr lang="en-US" sz="1250" dirty="0"/>
          </a:p>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Dibuja sin esperar a la nube</a:t>
            </a:r>
            <a:endParaRPr lang="en-US" sz="1250" dirty="0"/>
          </a:p>
        </p:txBody>
      </p:sp>
      <p:sp>
        <p:nvSpPr>
          <p:cNvPr id="7" name="Shape 5"/>
          <p:cNvSpPr/>
          <p:nvPr/>
        </p:nvSpPr>
        <p:spPr>
          <a:xfrm>
            <a:off x="4206240" y="3108960"/>
            <a:ext cx="777240" cy="365760"/>
          </a:xfrm>
          <a:prstGeom prst="rightArrow">
            <a:avLst/>
          </a:prstGeom>
          <a:solidFill>
            <a:srgbClr val="16A34A"/>
          </a:solidFill>
          <a:ln/>
        </p:spPr>
      </p:sp>
      <p:sp>
        <p:nvSpPr>
          <p:cNvPr id="8" name="Shape 6"/>
          <p:cNvSpPr/>
          <p:nvPr/>
        </p:nvSpPr>
        <p:spPr>
          <a:xfrm>
            <a:off x="4206240" y="3749040"/>
            <a:ext cx="777240" cy="365760"/>
          </a:xfrm>
          <a:prstGeom prst="leftArrow">
            <a:avLst/>
          </a:prstGeom>
          <a:solidFill>
            <a:srgbClr val="C3D5CB"/>
          </a:solidFill>
          <a:ln/>
        </p:spPr>
      </p:sp>
      <p:sp>
        <p:nvSpPr>
          <p:cNvPr id="9" name="Shape 7"/>
          <p:cNvSpPr/>
          <p:nvPr/>
        </p:nvSpPr>
        <p:spPr>
          <a:xfrm>
            <a:off x="5212080" y="1965960"/>
            <a:ext cx="3200400" cy="3200400"/>
          </a:xfrm>
          <a:prstGeom prst="roundRect">
            <a:avLst>
              <a:gd name="adj" fmla="val 3429"/>
            </a:avLst>
          </a:prstGeom>
          <a:solidFill>
            <a:srgbClr val="0A1C24"/>
          </a:solidFill>
          <a:ln w="12700">
            <a:solidFill>
              <a:srgbClr val="0A1C24"/>
            </a:solidFill>
            <a:prstDash val="solid"/>
          </a:ln>
        </p:spPr>
      </p:sp>
      <p:sp>
        <p:nvSpPr>
          <p:cNvPr id="10" name="Text 8"/>
          <p:cNvSpPr/>
          <p:nvPr/>
        </p:nvSpPr>
        <p:spPr>
          <a:xfrm>
            <a:off x="5486400" y="2194560"/>
            <a:ext cx="2743200" cy="365760"/>
          </a:xfrm>
          <a:prstGeom prst="rect">
            <a:avLst/>
          </a:prstGeom>
          <a:noFill/>
          <a:ln/>
        </p:spPr>
        <p:txBody>
          <a:bodyPr wrap="square" lIns="0" tIns="0" rIns="0" bIns="0" rtlCol="0" anchor="ctr"/>
          <a:lstStyle/>
          <a:p>
            <a:pPr indent="0" marL="0">
              <a:buNone/>
            </a:pPr>
            <a:r>
              <a:rPr lang="en-US" sz="1500" b="1" dirty="0">
                <a:solidFill>
                  <a:srgbClr val="A3E635"/>
                </a:solidFill>
                <a:latin typeface="Calibri" pitchFamily="34" charset="0"/>
                <a:ea typeface="Calibri" pitchFamily="34" charset="-122"/>
                <a:cs typeface="Calibri" pitchFamily="34" charset="-120"/>
              </a:rPr>
              <a:t>Firebase</a:t>
            </a:r>
            <a:endParaRPr lang="en-US" sz="1500" dirty="0"/>
          </a:p>
        </p:txBody>
      </p:sp>
      <p:sp>
        <p:nvSpPr>
          <p:cNvPr id="11" name="Text 9"/>
          <p:cNvSpPr/>
          <p:nvPr/>
        </p:nvSpPr>
        <p:spPr>
          <a:xfrm>
            <a:off x="5486400" y="2697480"/>
            <a:ext cx="2743200"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CFE0D8"/>
                </a:solidFill>
                <a:latin typeface="Calibri" pitchFamily="34" charset="0"/>
                <a:ea typeface="Calibri" pitchFamily="34" charset="-122"/>
                <a:cs typeface="Calibri" pitchFamily="34" charset="-120"/>
              </a:rPr>
              <a:t>Guarda y verifica contraseñas</a:t>
            </a:r>
            <a:endParaRPr lang="en-US" sz="1250" dirty="0"/>
          </a:p>
          <a:p>
            <a:pPr marL="342900" indent="-342900">
              <a:spcAft>
                <a:spcPts val="800"/>
              </a:spcAft>
              <a:buSzPct val="100000"/>
              <a:buChar char="•"/>
            </a:pPr>
            <a:r>
              <a:rPr lang="en-US" sz="1250" dirty="0">
                <a:solidFill>
                  <a:srgbClr val="CFE0D8"/>
                </a:solidFill>
                <a:latin typeface="Calibri" pitchFamily="34" charset="0"/>
                <a:ea typeface="Calibri" pitchFamily="34" charset="-122"/>
                <a:cs typeface="Calibri" pitchFamily="34" charset="-120"/>
              </a:rPr>
              <a:t>Reservas, perfiles y horarios</a:t>
            </a:r>
            <a:endParaRPr lang="en-US" sz="1250" dirty="0"/>
          </a:p>
          <a:p>
            <a:pPr marL="342900" indent="-342900">
              <a:spcAft>
                <a:spcPts val="800"/>
              </a:spcAft>
              <a:buSzPct val="100000"/>
              <a:buChar char="•"/>
            </a:pPr>
            <a:r>
              <a:rPr lang="en-US" sz="1250" dirty="0">
                <a:solidFill>
                  <a:srgbClr val="CFE0D8"/>
                </a:solidFill>
                <a:latin typeface="Calibri" pitchFamily="34" charset="0"/>
                <a:ea typeface="Calibri" pitchFamily="34" charset="-122"/>
                <a:cs typeface="Calibri" pitchFamily="34" charset="-120"/>
              </a:rPr>
              <a:t>Las reglas deciden quién ve qué</a:t>
            </a:r>
            <a:endParaRPr lang="en-US" sz="1250" dirty="0"/>
          </a:p>
        </p:txBody>
      </p:sp>
      <p:sp>
        <p:nvSpPr>
          <p:cNvPr id="12" name="Shape 10"/>
          <p:cNvSpPr/>
          <p:nvPr/>
        </p:nvSpPr>
        <p:spPr>
          <a:xfrm>
            <a:off x="8686800" y="1965960"/>
            <a:ext cx="2880360" cy="3200400"/>
          </a:xfrm>
          <a:prstGeom prst="roundRect">
            <a:avLst>
              <a:gd name="adj" fmla="val 3810"/>
            </a:avLst>
          </a:prstGeom>
          <a:solidFill>
            <a:srgbClr val="F4F8F5"/>
          </a:solidFill>
          <a:ln w="12700">
            <a:solidFill>
              <a:srgbClr val="E2EAE5"/>
            </a:solidFill>
            <a:prstDash val="solid"/>
          </a:ln>
        </p:spPr>
      </p:sp>
      <p:sp>
        <p:nvSpPr>
          <p:cNvPr id="13" name="Text 11"/>
          <p:cNvSpPr/>
          <p:nvPr/>
        </p:nvSpPr>
        <p:spPr>
          <a:xfrm>
            <a:off x="8961120" y="2194560"/>
            <a:ext cx="237744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GitHub Pages</a:t>
            </a:r>
            <a:endParaRPr lang="en-US" sz="1500" dirty="0"/>
          </a:p>
        </p:txBody>
      </p:sp>
      <p:sp>
        <p:nvSpPr>
          <p:cNvPr id="14" name="Text 12"/>
          <p:cNvSpPr/>
          <p:nvPr/>
        </p:nvSpPr>
        <p:spPr>
          <a:xfrm>
            <a:off x="8961120" y="2697480"/>
            <a:ext cx="2423160"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Entrega los archivos</a:t>
            </a:r>
            <a:endParaRPr lang="en-US" sz="1250" dirty="0"/>
          </a:p>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HTTPS incluido</a:t>
            </a:r>
            <a:endParaRPr lang="en-US" sz="1250" dirty="0"/>
          </a:p>
          <a:p>
            <a:pPr marL="342900" indent="-342900">
              <a:spcAft>
                <a:spcPts val="800"/>
              </a:spcAft>
              <a:buSzPct val="100000"/>
              <a:buChar char="•"/>
            </a:pPr>
            <a:r>
              <a:rPr lang="en-US" sz="1250" dirty="0">
                <a:solidFill>
                  <a:srgbClr val="55656C"/>
                </a:solidFill>
                <a:latin typeface="Calibri" pitchFamily="34" charset="0"/>
                <a:ea typeface="Calibri" pitchFamily="34" charset="-122"/>
                <a:cs typeface="Calibri" pitchFamily="34" charset="-120"/>
              </a:rPr>
              <a:t>Publica solo al subir cambios</a:t>
            </a:r>
            <a:endParaRPr lang="en-US" sz="1250" dirty="0"/>
          </a:p>
        </p:txBody>
      </p:sp>
      <p:sp>
        <p:nvSpPr>
          <p:cNvPr id="15" name="Text 13"/>
          <p:cNvSpPr/>
          <p:nvPr/>
        </p:nvSpPr>
        <p:spPr>
          <a:xfrm>
            <a:off x="594360" y="5623560"/>
            <a:ext cx="10972800" cy="548640"/>
          </a:xfrm>
          <a:prstGeom prst="rect">
            <a:avLst/>
          </a:prstGeom>
          <a:noFill/>
          <a:ln/>
        </p:spPr>
        <p:txBody>
          <a:bodyPr wrap="square" lIns="0" tIns="0" rIns="0" bIns="0" rtlCol="0" anchor="ctr"/>
          <a:lstStyle/>
          <a:p>
            <a:pPr indent="0" marL="0">
              <a:buNone/>
            </a:pPr>
            <a:r>
              <a:rPr lang="en-US" sz="1350" i="1" dirty="0">
                <a:solidFill>
                  <a:srgbClr val="0A1C24"/>
                </a:solidFill>
                <a:latin typeface="Calibri" pitchFamily="34" charset="0"/>
                <a:ea typeface="Calibri" pitchFamily="34" charset="-122"/>
                <a:cs typeface="Calibri" pitchFamily="34" charset="-120"/>
              </a:rPr>
              <a:t>Lo único que exige conexión de verdad es confirmar una reserva, porque es la nube la que decide quién se queda con la hora.</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El recorrido del cliente, de principio a fin</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Este es el momento de mostrarlo en vivo en el sitio.</a:t>
            </a:r>
            <a:endParaRPr lang="en-US" sz="1500" dirty="0"/>
          </a:p>
        </p:txBody>
      </p:sp>
      <p:sp>
        <p:nvSpPr>
          <p:cNvPr id="4" name="Shape 2"/>
          <p:cNvSpPr/>
          <p:nvPr/>
        </p:nvSpPr>
        <p:spPr>
          <a:xfrm>
            <a:off x="594360" y="1920240"/>
            <a:ext cx="457200" cy="457200"/>
          </a:xfrm>
          <a:prstGeom prst="ellipse">
            <a:avLst/>
          </a:prstGeom>
          <a:solidFill>
            <a:srgbClr val="16A34A"/>
          </a:solidFill>
          <a:ln/>
        </p:spPr>
      </p:sp>
      <p:sp>
        <p:nvSpPr>
          <p:cNvPr id="5" name="Text 3"/>
          <p:cNvSpPr/>
          <p:nvPr/>
        </p:nvSpPr>
        <p:spPr>
          <a:xfrm>
            <a:off x="59436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594360" y="251460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Elegir servicio</a:t>
            </a:r>
            <a:endParaRPr lang="en-US" sz="1500" dirty="0"/>
          </a:p>
        </p:txBody>
      </p:sp>
      <p:sp>
        <p:nvSpPr>
          <p:cNvPr id="7" name="Text 5"/>
          <p:cNvSpPr/>
          <p:nvPr/>
        </p:nvSpPr>
        <p:spPr>
          <a:xfrm>
            <a:off x="594360" y="288036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Catálogo con filtros y buscador.</a:t>
            </a:r>
            <a:endParaRPr lang="en-US" sz="1200" dirty="0"/>
          </a:p>
        </p:txBody>
      </p:sp>
      <p:sp>
        <p:nvSpPr>
          <p:cNvPr id="8" name="Shape 6"/>
          <p:cNvSpPr/>
          <p:nvPr/>
        </p:nvSpPr>
        <p:spPr>
          <a:xfrm>
            <a:off x="3429000" y="1920240"/>
            <a:ext cx="457200" cy="457200"/>
          </a:xfrm>
          <a:prstGeom prst="ellipse">
            <a:avLst/>
          </a:prstGeom>
          <a:solidFill>
            <a:srgbClr val="16A34A"/>
          </a:solidFill>
          <a:ln/>
        </p:spPr>
      </p:sp>
      <p:sp>
        <p:nvSpPr>
          <p:cNvPr id="9" name="Text 7"/>
          <p:cNvSpPr/>
          <p:nvPr/>
        </p:nvSpPr>
        <p:spPr>
          <a:xfrm>
            <a:off x="342900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3429000" y="251460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Agregar al carrito</a:t>
            </a:r>
            <a:endParaRPr lang="en-US" sz="1500" dirty="0"/>
          </a:p>
        </p:txBody>
      </p:sp>
      <p:sp>
        <p:nvSpPr>
          <p:cNvPr id="11" name="Text 9"/>
          <p:cNvSpPr/>
          <p:nvPr/>
        </p:nvSpPr>
        <p:spPr>
          <a:xfrm>
            <a:off x="3429000" y="288036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Queda guardado aunque cierre la página.</a:t>
            </a:r>
            <a:endParaRPr lang="en-US" sz="1200" dirty="0"/>
          </a:p>
        </p:txBody>
      </p:sp>
      <p:sp>
        <p:nvSpPr>
          <p:cNvPr id="12" name="Shape 10"/>
          <p:cNvSpPr/>
          <p:nvPr/>
        </p:nvSpPr>
        <p:spPr>
          <a:xfrm>
            <a:off x="6263640" y="1920240"/>
            <a:ext cx="457200" cy="457200"/>
          </a:xfrm>
          <a:prstGeom prst="ellipse">
            <a:avLst/>
          </a:prstGeom>
          <a:solidFill>
            <a:srgbClr val="16A34A"/>
          </a:solidFill>
          <a:ln/>
        </p:spPr>
      </p:sp>
      <p:sp>
        <p:nvSpPr>
          <p:cNvPr id="13" name="Text 11"/>
          <p:cNvSpPr/>
          <p:nvPr/>
        </p:nvSpPr>
        <p:spPr>
          <a:xfrm>
            <a:off x="626364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6263640" y="251460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Aplicar cupón</a:t>
            </a:r>
            <a:endParaRPr lang="en-US" sz="1500" dirty="0"/>
          </a:p>
        </p:txBody>
      </p:sp>
      <p:sp>
        <p:nvSpPr>
          <p:cNvPr id="15" name="Text 13"/>
          <p:cNvSpPr/>
          <p:nvPr/>
        </p:nvSpPr>
        <p:spPr>
          <a:xfrm>
            <a:off x="6263640" y="288036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Ve el descuento y el impuesto al instante.</a:t>
            </a:r>
            <a:endParaRPr lang="en-US" sz="1200" dirty="0"/>
          </a:p>
        </p:txBody>
      </p:sp>
      <p:sp>
        <p:nvSpPr>
          <p:cNvPr id="16" name="Shape 14"/>
          <p:cNvSpPr/>
          <p:nvPr/>
        </p:nvSpPr>
        <p:spPr>
          <a:xfrm>
            <a:off x="9098280" y="1920240"/>
            <a:ext cx="457200" cy="457200"/>
          </a:xfrm>
          <a:prstGeom prst="ellipse">
            <a:avLst/>
          </a:prstGeom>
          <a:solidFill>
            <a:srgbClr val="16A34A"/>
          </a:solidFill>
          <a:ln/>
        </p:spPr>
      </p:sp>
      <p:sp>
        <p:nvSpPr>
          <p:cNvPr id="17" name="Text 15"/>
          <p:cNvSpPr/>
          <p:nvPr/>
        </p:nvSpPr>
        <p:spPr>
          <a:xfrm>
            <a:off x="909828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9098280" y="251460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Fecha y hora</a:t>
            </a:r>
            <a:endParaRPr lang="en-US" sz="1500" dirty="0"/>
          </a:p>
        </p:txBody>
      </p:sp>
      <p:sp>
        <p:nvSpPr>
          <p:cNvPr id="19" name="Text 17"/>
          <p:cNvSpPr/>
          <p:nvPr/>
        </p:nvSpPr>
        <p:spPr>
          <a:xfrm>
            <a:off x="9098280" y="288036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Las horas ocupadas salen deshabilitadas.</a:t>
            </a:r>
            <a:endParaRPr lang="en-US" sz="1200" dirty="0"/>
          </a:p>
        </p:txBody>
      </p:sp>
      <p:sp>
        <p:nvSpPr>
          <p:cNvPr id="20" name="Shape 18"/>
          <p:cNvSpPr/>
          <p:nvPr/>
        </p:nvSpPr>
        <p:spPr>
          <a:xfrm>
            <a:off x="594360" y="4069080"/>
            <a:ext cx="457200" cy="457200"/>
          </a:xfrm>
          <a:prstGeom prst="ellipse">
            <a:avLst/>
          </a:prstGeom>
          <a:solidFill>
            <a:srgbClr val="16A34A"/>
          </a:solidFill>
          <a:ln/>
        </p:spPr>
      </p:sp>
      <p:sp>
        <p:nvSpPr>
          <p:cNvPr id="21" name="Text 19"/>
          <p:cNvSpPr/>
          <p:nvPr/>
        </p:nvSpPr>
        <p:spPr>
          <a:xfrm>
            <a:off x="59436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594360" y="466344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Sus datos y pago</a:t>
            </a:r>
            <a:endParaRPr lang="en-US" sz="1500" dirty="0"/>
          </a:p>
        </p:txBody>
      </p:sp>
      <p:sp>
        <p:nvSpPr>
          <p:cNvPr id="23" name="Text 21"/>
          <p:cNvSpPr/>
          <p:nvPr/>
        </p:nvSpPr>
        <p:spPr>
          <a:xfrm>
            <a:off x="594360" y="502920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Todo se valida antes de continuar.</a:t>
            </a:r>
            <a:endParaRPr lang="en-US" sz="1200" dirty="0"/>
          </a:p>
        </p:txBody>
      </p:sp>
      <p:sp>
        <p:nvSpPr>
          <p:cNvPr id="24" name="Shape 22"/>
          <p:cNvSpPr/>
          <p:nvPr/>
        </p:nvSpPr>
        <p:spPr>
          <a:xfrm>
            <a:off x="3429000" y="4069080"/>
            <a:ext cx="457200" cy="457200"/>
          </a:xfrm>
          <a:prstGeom prst="ellipse">
            <a:avLst/>
          </a:prstGeom>
          <a:solidFill>
            <a:srgbClr val="16A34A"/>
          </a:solidFill>
          <a:ln/>
        </p:spPr>
      </p:sp>
      <p:sp>
        <p:nvSpPr>
          <p:cNvPr id="25" name="Text 23"/>
          <p:cNvSpPr/>
          <p:nvPr/>
        </p:nvSpPr>
        <p:spPr>
          <a:xfrm>
            <a:off x="342900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p:nvPr/>
        </p:nvSpPr>
        <p:spPr>
          <a:xfrm>
            <a:off x="3429000" y="466344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Confirmar</a:t>
            </a:r>
            <a:endParaRPr lang="en-US" sz="1500" dirty="0"/>
          </a:p>
        </p:txBody>
      </p:sp>
      <p:sp>
        <p:nvSpPr>
          <p:cNvPr id="27" name="Text 25"/>
          <p:cNvSpPr/>
          <p:nvPr/>
        </p:nvSpPr>
        <p:spPr>
          <a:xfrm>
            <a:off x="3429000" y="502920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Se aparta la cancha y se guarda el pedido.</a:t>
            </a:r>
            <a:endParaRPr lang="en-US" sz="1200" dirty="0"/>
          </a:p>
        </p:txBody>
      </p:sp>
      <p:sp>
        <p:nvSpPr>
          <p:cNvPr id="28" name="Shape 26"/>
          <p:cNvSpPr/>
          <p:nvPr/>
        </p:nvSpPr>
        <p:spPr>
          <a:xfrm>
            <a:off x="6263640" y="4069080"/>
            <a:ext cx="457200" cy="457200"/>
          </a:xfrm>
          <a:prstGeom prst="ellipse">
            <a:avLst/>
          </a:prstGeom>
          <a:solidFill>
            <a:srgbClr val="16A34A"/>
          </a:solidFill>
          <a:ln/>
        </p:spPr>
      </p:sp>
      <p:sp>
        <p:nvSpPr>
          <p:cNvPr id="29" name="Text 27"/>
          <p:cNvSpPr/>
          <p:nvPr/>
        </p:nvSpPr>
        <p:spPr>
          <a:xfrm>
            <a:off x="6263640" y="4069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p:nvPr/>
        </p:nvSpPr>
        <p:spPr>
          <a:xfrm>
            <a:off x="6263640" y="4663440"/>
            <a:ext cx="2560320" cy="36576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Comprobante</a:t>
            </a:r>
            <a:endParaRPr lang="en-US" sz="1500" dirty="0"/>
          </a:p>
        </p:txBody>
      </p:sp>
      <p:sp>
        <p:nvSpPr>
          <p:cNvPr id="31" name="Text 29"/>
          <p:cNvSpPr/>
          <p:nvPr/>
        </p:nvSpPr>
        <p:spPr>
          <a:xfrm>
            <a:off x="6263640" y="5029200"/>
            <a:ext cx="2606040" cy="7315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Número propio, por WhatsApp o impreso.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Cómo se calcula lo que paga el cliente</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Ejemplo real: dos horas de cancha diurna con el cupón GAMA10.</a:t>
            </a:r>
            <a:endParaRPr lang="en-US" sz="1500" dirty="0"/>
          </a:p>
        </p:txBody>
      </p:sp>
      <p:sp>
        <p:nvSpPr>
          <p:cNvPr id="4" name="Text 2"/>
          <p:cNvSpPr/>
          <p:nvPr/>
        </p:nvSpPr>
        <p:spPr>
          <a:xfrm>
            <a:off x="868680" y="1920240"/>
            <a:ext cx="3108960" cy="457200"/>
          </a:xfrm>
          <a:prstGeom prst="rect">
            <a:avLst/>
          </a:prstGeom>
          <a:noFill/>
          <a:ln/>
        </p:spPr>
        <p:txBody>
          <a:bodyPr wrap="square" lIns="0" tIns="0" rIns="0" bIns="0" rtlCol="0" anchor="ctr"/>
          <a:lstStyle/>
          <a:p>
            <a:pPr indent="0" marL="0">
              <a:buNone/>
            </a:pPr>
            <a:r>
              <a:rPr lang="en-US" sz="1500" dirty="0">
                <a:solidFill>
                  <a:srgbClr val="0A1C24"/>
                </a:solidFill>
                <a:latin typeface="Calibri" pitchFamily="34" charset="0"/>
                <a:ea typeface="Calibri" pitchFamily="34" charset="-122"/>
                <a:cs typeface="Calibri" pitchFamily="34" charset="-120"/>
              </a:rPr>
              <a:t>Subtotal</a:t>
            </a:r>
            <a:endParaRPr lang="en-US" sz="1500" dirty="0"/>
          </a:p>
        </p:txBody>
      </p:sp>
      <p:sp>
        <p:nvSpPr>
          <p:cNvPr id="5" name="Text 3"/>
          <p:cNvSpPr/>
          <p:nvPr/>
        </p:nvSpPr>
        <p:spPr>
          <a:xfrm>
            <a:off x="3931920" y="1920240"/>
            <a:ext cx="2926080" cy="45720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2 horas x L 800.00</a:t>
            </a:r>
            <a:endParaRPr lang="en-US" sz="1200" dirty="0"/>
          </a:p>
        </p:txBody>
      </p:sp>
      <p:sp>
        <p:nvSpPr>
          <p:cNvPr id="6" name="Text 4"/>
          <p:cNvSpPr/>
          <p:nvPr/>
        </p:nvSpPr>
        <p:spPr>
          <a:xfrm>
            <a:off x="6583680" y="1920240"/>
            <a:ext cx="1463040" cy="457200"/>
          </a:xfrm>
          <a:prstGeom prst="rect">
            <a:avLst/>
          </a:prstGeom>
          <a:noFill/>
          <a:ln/>
        </p:spPr>
        <p:txBody>
          <a:bodyPr wrap="square" lIns="0" tIns="0" rIns="0" bIns="0" rtlCol="0" anchor="ctr"/>
          <a:lstStyle/>
          <a:p>
            <a:pPr algn="r" indent="0" marL="0">
              <a:buNone/>
            </a:pPr>
            <a:r>
              <a:rPr lang="en-US" sz="1500" b="1" dirty="0">
                <a:solidFill>
                  <a:srgbClr val="0A1C24"/>
                </a:solidFill>
                <a:latin typeface="Calibri" pitchFamily="34" charset="0"/>
                <a:ea typeface="Calibri" pitchFamily="34" charset="-122"/>
                <a:cs typeface="Calibri" pitchFamily="34" charset="-120"/>
              </a:rPr>
              <a:t>L 1,600.00</a:t>
            </a:r>
            <a:endParaRPr lang="en-US" sz="1500" dirty="0"/>
          </a:p>
        </p:txBody>
      </p:sp>
      <p:sp>
        <p:nvSpPr>
          <p:cNvPr id="7" name="Text 5"/>
          <p:cNvSpPr/>
          <p:nvPr/>
        </p:nvSpPr>
        <p:spPr>
          <a:xfrm>
            <a:off x="868680" y="2633472"/>
            <a:ext cx="3108960" cy="457200"/>
          </a:xfrm>
          <a:prstGeom prst="rect">
            <a:avLst/>
          </a:prstGeom>
          <a:noFill/>
          <a:ln/>
        </p:spPr>
        <p:txBody>
          <a:bodyPr wrap="square" lIns="0" tIns="0" rIns="0" bIns="0" rtlCol="0" anchor="ctr"/>
          <a:lstStyle/>
          <a:p>
            <a:pPr indent="0" marL="0">
              <a:buNone/>
            </a:pPr>
            <a:r>
              <a:rPr lang="en-US" sz="1500" dirty="0">
                <a:solidFill>
                  <a:srgbClr val="0A1C24"/>
                </a:solidFill>
                <a:latin typeface="Calibri" pitchFamily="34" charset="0"/>
                <a:ea typeface="Calibri" pitchFamily="34" charset="-122"/>
                <a:cs typeface="Calibri" pitchFamily="34" charset="-120"/>
              </a:rPr>
              <a:t>Descuento GAMA10</a:t>
            </a:r>
            <a:endParaRPr lang="en-US" sz="1500" dirty="0"/>
          </a:p>
        </p:txBody>
      </p:sp>
      <p:sp>
        <p:nvSpPr>
          <p:cNvPr id="8" name="Text 6"/>
          <p:cNvSpPr/>
          <p:nvPr/>
        </p:nvSpPr>
        <p:spPr>
          <a:xfrm>
            <a:off x="3931920" y="2633472"/>
            <a:ext cx="2926080" cy="45720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10 % sobre el subtotal</a:t>
            </a:r>
            <a:endParaRPr lang="en-US" sz="1200" dirty="0"/>
          </a:p>
        </p:txBody>
      </p:sp>
      <p:sp>
        <p:nvSpPr>
          <p:cNvPr id="9" name="Text 7"/>
          <p:cNvSpPr/>
          <p:nvPr/>
        </p:nvSpPr>
        <p:spPr>
          <a:xfrm>
            <a:off x="6583680" y="2633472"/>
            <a:ext cx="1463040" cy="457200"/>
          </a:xfrm>
          <a:prstGeom prst="rect">
            <a:avLst/>
          </a:prstGeom>
          <a:noFill/>
          <a:ln/>
        </p:spPr>
        <p:txBody>
          <a:bodyPr wrap="square" lIns="0" tIns="0" rIns="0" bIns="0" rtlCol="0" anchor="ctr"/>
          <a:lstStyle/>
          <a:p>
            <a:pPr algn="r" indent="0" marL="0">
              <a:buNone/>
            </a:pPr>
            <a:r>
              <a:rPr lang="en-US" sz="1500" b="1" dirty="0">
                <a:solidFill>
                  <a:srgbClr val="0A1C24"/>
                </a:solidFill>
                <a:latin typeface="Calibri" pitchFamily="34" charset="0"/>
                <a:ea typeface="Calibri" pitchFamily="34" charset="-122"/>
                <a:cs typeface="Calibri" pitchFamily="34" charset="-120"/>
              </a:rPr>
              <a:t>- L 160.00</a:t>
            </a:r>
            <a:endParaRPr lang="en-US" sz="1500" dirty="0"/>
          </a:p>
        </p:txBody>
      </p:sp>
      <p:sp>
        <p:nvSpPr>
          <p:cNvPr id="10" name="Text 8"/>
          <p:cNvSpPr/>
          <p:nvPr/>
        </p:nvSpPr>
        <p:spPr>
          <a:xfrm>
            <a:off x="868680" y="3346704"/>
            <a:ext cx="3108960" cy="457200"/>
          </a:xfrm>
          <a:prstGeom prst="rect">
            <a:avLst/>
          </a:prstGeom>
          <a:noFill/>
          <a:ln/>
        </p:spPr>
        <p:txBody>
          <a:bodyPr wrap="square" lIns="0" tIns="0" rIns="0" bIns="0" rtlCol="0" anchor="ctr"/>
          <a:lstStyle/>
          <a:p>
            <a:pPr indent="0" marL="0">
              <a:buNone/>
            </a:pPr>
            <a:r>
              <a:rPr lang="en-US" sz="1500" dirty="0">
                <a:solidFill>
                  <a:srgbClr val="0A1C24"/>
                </a:solidFill>
                <a:latin typeface="Calibri" pitchFamily="34" charset="0"/>
                <a:ea typeface="Calibri" pitchFamily="34" charset="-122"/>
                <a:cs typeface="Calibri" pitchFamily="34" charset="-120"/>
              </a:rPr>
              <a:t>Base gravable</a:t>
            </a:r>
            <a:endParaRPr lang="en-US" sz="1500" dirty="0"/>
          </a:p>
        </p:txBody>
      </p:sp>
      <p:sp>
        <p:nvSpPr>
          <p:cNvPr id="11" name="Text 9"/>
          <p:cNvSpPr/>
          <p:nvPr/>
        </p:nvSpPr>
        <p:spPr>
          <a:xfrm>
            <a:off x="3931920" y="3346704"/>
            <a:ext cx="2926080" cy="45720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sobre esto se calcula el impuesto</a:t>
            </a:r>
            <a:endParaRPr lang="en-US" sz="1200" dirty="0"/>
          </a:p>
        </p:txBody>
      </p:sp>
      <p:sp>
        <p:nvSpPr>
          <p:cNvPr id="12" name="Text 10"/>
          <p:cNvSpPr/>
          <p:nvPr/>
        </p:nvSpPr>
        <p:spPr>
          <a:xfrm>
            <a:off x="6583680" y="3346704"/>
            <a:ext cx="1463040" cy="457200"/>
          </a:xfrm>
          <a:prstGeom prst="rect">
            <a:avLst/>
          </a:prstGeom>
          <a:noFill/>
          <a:ln/>
        </p:spPr>
        <p:txBody>
          <a:bodyPr wrap="square" lIns="0" tIns="0" rIns="0" bIns="0" rtlCol="0" anchor="ctr"/>
          <a:lstStyle/>
          <a:p>
            <a:pPr algn="r" indent="0" marL="0">
              <a:buNone/>
            </a:pPr>
            <a:r>
              <a:rPr lang="en-US" sz="1500" b="1" dirty="0">
                <a:solidFill>
                  <a:srgbClr val="0A1C24"/>
                </a:solidFill>
                <a:latin typeface="Calibri" pitchFamily="34" charset="0"/>
                <a:ea typeface="Calibri" pitchFamily="34" charset="-122"/>
                <a:cs typeface="Calibri" pitchFamily="34" charset="-120"/>
              </a:rPr>
              <a:t>L 1,440.00</a:t>
            </a:r>
            <a:endParaRPr lang="en-US" sz="1500" dirty="0"/>
          </a:p>
        </p:txBody>
      </p:sp>
      <p:sp>
        <p:nvSpPr>
          <p:cNvPr id="13" name="Text 11"/>
          <p:cNvSpPr/>
          <p:nvPr/>
        </p:nvSpPr>
        <p:spPr>
          <a:xfrm>
            <a:off x="868680" y="4059936"/>
            <a:ext cx="3108960" cy="457200"/>
          </a:xfrm>
          <a:prstGeom prst="rect">
            <a:avLst/>
          </a:prstGeom>
          <a:noFill/>
          <a:ln/>
        </p:spPr>
        <p:txBody>
          <a:bodyPr wrap="square" lIns="0" tIns="0" rIns="0" bIns="0" rtlCol="0" anchor="ctr"/>
          <a:lstStyle/>
          <a:p>
            <a:pPr indent="0" marL="0">
              <a:buNone/>
            </a:pPr>
            <a:r>
              <a:rPr lang="en-US" sz="1500" dirty="0">
                <a:solidFill>
                  <a:srgbClr val="0A1C24"/>
                </a:solidFill>
                <a:latin typeface="Calibri" pitchFamily="34" charset="0"/>
                <a:ea typeface="Calibri" pitchFamily="34" charset="-122"/>
                <a:cs typeface="Calibri" pitchFamily="34" charset="-120"/>
              </a:rPr>
              <a:t>ISV 15 %</a:t>
            </a:r>
            <a:endParaRPr lang="en-US" sz="1500" dirty="0"/>
          </a:p>
        </p:txBody>
      </p:sp>
      <p:sp>
        <p:nvSpPr>
          <p:cNvPr id="14" name="Text 12"/>
          <p:cNvSpPr/>
          <p:nvPr/>
        </p:nvSpPr>
        <p:spPr>
          <a:xfrm>
            <a:off x="3931920" y="4059936"/>
            <a:ext cx="2926080" cy="45720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impuesto sobre ventas</a:t>
            </a:r>
            <a:endParaRPr lang="en-US" sz="1200" dirty="0"/>
          </a:p>
        </p:txBody>
      </p:sp>
      <p:sp>
        <p:nvSpPr>
          <p:cNvPr id="15" name="Text 13"/>
          <p:cNvSpPr/>
          <p:nvPr/>
        </p:nvSpPr>
        <p:spPr>
          <a:xfrm>
            <a:off x="6583680" y="4059936"/>
            <a:ext cx="1463040" cy="457200"/>
          </a:xfrm>
          <a:prstGeom prst="rect">
            <a:avLst/>
          </a:prstGeom>
          <a:noFill/>
          <a:ln/>
        </p:spPr>
        <p:txBody>
          <a:bodyPr wrap="square" lIns="0" tIns="0" rIns="0" bIns="0" rtlCol="0" anchor="ctr"/>
          <a:lstStyle/>
          <a:p>
            <a:pPr algn="r" indent="0" marL="0">
              <a:buNone/>
            </a:pPr>
            <a:r>
              <a:rPr lang="en-US" sz="1500" b="1" dirty="0">
                <a:solidFill>
                  <a:srgbClr val="0A1C24"/>
                </a:solidFill>
                <a:latin typeface="Calibri" pitchFamily="34" charset="0"/>
                <a:ea typeface="Calibri" pitchFamily="34" charset="-122"/>
                <a:cs typeface="Calibri" pitchFamily="34" charset="-120"/>
              </a:rPr>
              <a:t>L 216.00</a:t>
            </a:r>
            <a:endParaRPr lang="en-US" sz="1500" dirty="0"/>
          </a:p>
        </p:txBody>
      </p:sp>
      <p:sp>
        <p:nvSpPr>
          <p:cNvPr id="16" name="Shape 14"/>
          <p:cNvSpPr/>
          <p:nvPr/>
        </p:nvSpPr>
        <p:spPr>
          <a:xfrm>
            <a:off x="594360" y="4700016"/>
            <a:ext cx="7680960" cy="658368"/>
          </a:xfrm>
          <a:prstGeom prst="roundRect">
            <a:avLst>
              <a:gd name="adj" fmla="val 16667"/>
            </a:avLst>
          </a:prstGeom>
          <a:solidFill>
            <a:srgbClr val="0A1C24"/>
          </a:solidFill>
          <a:ln w="12700">
            <a:solidFill>
              <a:srgbClr val="0A1C24"/>
            </a:solidFill>
            <a:prstDash val="solid"/>
          </a:ln>
        </p:spPr>
      </p:sp>
      <p:sp>
        <p:nvSpPr>
          <p:cNvPr id="17" name="Text 15"/>
          <p:cNvSpPr/>
          <p:nvPr/>
        </p:nvSpPr>
        <p:spPr>
          <a:xfrm>
            <a:off x="868680" y="4773168"/>
            <a:ext cx="310896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Total a pagar</a:t>
            </a:r>
            <a:endParaRPr lang="en-US" sz="1700" dirty="0"/>
          </a:p>
        </p:txBody>
      </p:sp>
      <p:sp>
        <p:nvSpPr>
          <p:cNvPr id="18" name="Text 16"/>
          <p:cNvSpPr/>
          <p:nvPr/>
        </p:nvSpPr>
        <p:spPr>
          <a:xfrm>
            <a:off x="3931920" y="4773168"/>
            <a:ext cx="2926080" cy="457200"/>
          </a:xfrm>
          <a:prstGeom prst="rect">
            <a:avLst/>
          </a:prstGeom>
          <a:noFill/>
          <a:ln/>
        </p:spPr>
        <p:txBody>
          <a:bodyPr wrap="square" lIns="0" tIns="0" rIns="0" bIns="0" rtlCol="0" anchor="ctr"/>
          <a:lstStyle/>
          <a:p>
            <a:pPr indent="0" marL="0">
              <a:buNone/>
            </a:pPr>
            <a:endParaRPr lang="en-US" sz="1200" dirty="0"/>
          </a:p>
        </p:txBody>
      </p:sp>
      <p:sp>
        <p:nvSpPr>
          <p:cNvPr id="19" name="Text 17"/>
          <p:cNvSpPr/>
          <p:nvPr/>
        </p:nvSpPr>
        <p:spPr>
          <a:xfrm>
            <a:off x="6583680" y="4773168"/>
            <a:ext cx="1463040" cy="457200"/>
          </a:xfrm>
          <a:prstGeom prst="rect">
            <a:avLst/>
          </a:prstGeom>
          <a:noFill/>
          <a:ln/>
        </p:spPr>
        <p:txBody>
          <a:bodyPr wrap="square" lIns="0" tIns="0" rIns="0" bIns="0" rtlCol="0" anchor="ctr"/>
          <a:lstStyle/>
          <a:p>
            <a:pPr algn="r" indent="0" marL="0">
              <a:buNone/>
            </a:pPr>
            <a:r>
              <a:rPr lang="en-US" sz="1800" b="1" dirty="0">
                <a:solidFill>
                  <a:srgbClr val="A3E635"/>
                </a:solidFill>
                <a:latin typeface="Calibri" pitchFamily="34" charset="0"/>
                <a:ea typeface="Calibri" pitchFamily="34" charset="-122"/>
                <a:cs typeface="Calibri" pitchFamily="34" charset="-120"/>
              </a:rPr>
              <a:t>L 1,656.00</a:t>
            </a:r>
            <a:endParaRPr lang="en-US" sz="1800" dirty="0"/>
          </a:p>
        </p:txBody>
      </p:sp>
      <p:sp>
        <p:nvSpPr>
          <p:cNvPr id="20" name="Shape 18"/>
          <p:cNvSpPr/>
          <p:nvPr/>
        </p:nvSpPr>
        <p:spPr>
          <a:xfrm>
            <a:off x="8686800" y="1920240"/>
            <a:ext cx="2880360" cy="3108960"/>
          </a:xfrm>
          <a:prstGeom prst="roundRect">
            <a:avLst>
              <a:gd name="adj" fmla="val 3810"/>
            </a:avLst>
          </a:prstGeom>
          <a:solidFill>
            <a:srgbClr val="F4F8F5"/>
          </a:solidFill>
          <a:ln w="12700">
            <a:solidFill>
              <a:srgbClr val="E2EAE5"/>
            </a:solidFill>
            <a:prstDash val="solid"/>
          </a:ln>
        </p:spPr>
      </p:sp>
      <p:sp>
        <p:nvSpPr>
          <p:cNvPr id="21" name="Text 19"/>
          <p:cNvSpPr/>
          <p:nvPr/>
        </p:nvSpPr>
        <p:spPr>
          <a:xfrm>
            <a:off x="8961120" y="2194560"/>
            <a:ext cx="2377440" cy="64008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El detalle que hay que saber defender</a:t>
            </a:r>
            <a:endParaRPr lang="en-US" sz="1400" dirty="0"/>
          </a:p>
        </p:txBody>
      </p:sp>
      <p:sp>
        <p:nvSpPr>
          <p:cNvPr id="22" name="Text 20"/>
          <p:cNvSpPr/>
          <p:nvPr/>
        </p:nvSpPr>
        <p:spPr>
          <a:xfrm>
            <a:off x="8961120" y="2880360"/>
            <a:ext cx="2377440" cy="182880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El descuento se aplica antes del impuesto, no después. El ISV se calcula sobre lo que el cliente paga realmente por el servicio, no sobre el precio de lista.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Dos personas no pueden llevarse la misma cancha</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El problema clásico de todo sistema de reservas, resuelto sin depender de la suerte.</a:t>
            </a:r>
            <a:endParaRPr lang="en-US" sz="1500" dirty="0"/>
          </a:p>
        </p:txBody>
      </p:sp>
      <p:sp>
        <p:nvSpPr>
          <p:cNvPr id="4" name="Text 2"/>
          <p:cNvSpPr/>
          <p:nvPr/>
        </p:nvSpPr>
        <p:spPr>
          <a:xfrm>
            <a:off x="594360" y="1691640"/>
            <a:ext cx="10972800" cy="457200"/>
          </a:xfrm>
          <a:prstGeom prst="rect">
            <a:avLst/>
          </a:prstGeom>
          <a:noFill/>
          <a:ln/>
        </p:spPr>
        <p:txBody>
          <a:bodyPr wrap="square" lIns="0" tIns="0" rIns="0" bIns="0" rtlCol="0" anchor="ctr"/>
          <a:lstStyle/>
          <a:p>
            <a:pPr indent="0" marL="0">
              <a:buNone/>
            </a:pPr>
            <a:r>
              <a:rPr lang="en-US" sz="1400" dirty="0">
                <a:solidFill>
                  <a:srgbClr val="1F2B30"/>
                </a:solidFill>
                <a:latin typeface="Calibri" pitchFamily="34" charset="0"/>
                <a:ea typeface="Calibri" pitchFamily="34" charset="-122"/>
                <a:cs typeface="Calibri" pitchFamily="34" charset="-120"/>
              </a:rPr>
              <a:t>Cada combinación de fecha, hora y cancha se guarda con un nombre único, y la base de datos no admite dos veces el mismo nombre.</a:t>
            </a:r>
            <a:endParaRPr lang="en-US" sz="1400" dirty="0"/>
          </a:p>
        </p:txBody>
      </p:sp>
      <p:sp>
        <p:nvSpPr>
          <p:cNvPr id="5" name="Shape 3"/>
          <p:cNvSpPr/>
          <p:nvPr/>
        </p:nvSpPr>
        <p:spPr>
          <a:xfrm>
            <a:off x="594360" y="2377440"/>
            <a:ext cx="10972800" cy="1005840"/>
          </a:xfrm>
          <a:prstGeom prst="roundRect">
            <a:avLst>
              <a:gd name="adj" fmla="val 10909"/>
            </a:avLst>
          </a:prstGeom>
          <a:solidFill>
            <a:srgbClr val="F4F8F5"/>
          </a:solidFill>
          <a:ln w="12700">
            <a:solidFill>
              <a:srgbClr val="E2EAE5"/>
            </a:solidFill>
            <a:prstDash val="solid"/>
          </a:ln>
        </p:spPr>
      </p:sp>
      <p:sp>
        <p:nvSpPr>
          <p:cNvPr id="6" name="Text 4"/>
          <p:cNvSpPr/>
          <p:nvPr/>
        </p:nvSpPr>
        <p:spPr>
          <a:xfrm>
            <a:off x="914400" y="2651760"/>
            <a:ext cx="1554480" cy="45720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Cliente A</a:t>
            </a:r>
            <a:endParaRPr lang="en-US" sz="1600" dirty="0"/>
          </a:p>
        </p:txBody>
      </p:sp>
      <p:sp>
        <p:nvSpPr>
          <p:cNvPr id="7" name="Text 5"/>
          <p:cNvSpPr/>
          <p:nvPr/>
        </p:nvSpPr>
        <p:spPr>
          <a:xfrm>
            <a:off x="2560320" y="2651760"/>
            <a:ext cx="4572000" cy="4572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crea 2026-08-10_19-00_c1</a:t>
            </a:r>
            <a:endParaRPr lang="en-US" sz="1300" dirty="0"/>
          </a:p>
        </p:txBody>
      </p:sp>
      <p:sp>
        <p:nvSpPr>
          <p:cNvPr id="8" name="Shape 6"/>
          <p:cNvSpPr/>
          <p:nvPr/>
        </p:nvSpPr>
        <p:spPr>
          <a:xfrm>
            <a:off x="7406640" y="2606040"/>
            <a:ext cx="3840480" cy="548640"/>
          </a:xfrm>
          <a:prstGeom prst="roundRect">
            <a:avLst>
              <a:gd name="adj" fmla="val 16667"/>
            </a:avLst>
          </a:prstGeom>
          <a:solidFill>
            <a:srgbClr val="16A34A"/>
          </a:solidFill>
          <a:ln/>
        </p:spPr>
      </p:sp>
      <p:sp>
        <p:nvSpPr>
          <p:cNvPr id="9" name="Text 7"/>
          <p:cNvSpPr/>
          <p:nvPr/>
        </p:nvSpPr>
        <p:spPr>
          <a:xfrm>
            <a:off x="7406640" y="2606040"/>
            <a:ext cx="3840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 queda con la cancha 1</a:t>
            </a:r>
            <a:endParaRPr lang="en-US" sz="1300" dirty="0"/>
          </a:p>
        </p:txBody>
      </p:sp>
      <p:sp>
        <p:nvSpPr>
          <p:cNvPr id="10" name="Shape 8"/>
          <p:cNvSpPr/>
          <p:nvPr/>
        </p:nvSpPr>
        <p:spPr>
          <a:xfrm>
            <a:off x="594360" y="3611880"/>
            <a:ext cx="10972800" cy="1005840"/>
          </a:xfrm>
          <a:prstGeom prst="roundRect">
            <a:avLst>
              <a:gd name="adj" fmla="val 10909"/>
            </a:avLst>
          </a:prstGeom>
          <a:solidFill>
            <a:srgbClr val="F4F8F5"/>
          </a:solidFill>
          <a:ln w="12700">
            <a:solidFill>
              <a:srgbClr val="E2EAE5"/>
            </a:solidFill>
            <a:prstDash val="solid"/>
          </a:ln>
        </p:spPr>
      </p:sp>
      <p:sp>
        <p:nvSpPr>
          <p:cNvPr id="11" name="Text 9"/>
          <p:cNvSpPr/>
          <p:nvPr/>
        </p:nvSpPr>
        <p:spPr>
          <a:xfrm>
            <a:off x="914400" y="3886200"/>
            <a:ext cx="1554480" cy="45720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Cliente B</a:t>
            </a:r>
            <a:endParaRPr lang="en-US" sz="1600" dirty="0"/>
          </a:p>
        </p:txBody>
      </p:sp>
      <p:sp>
        <p:nvSpPr>
          <p:cNvPr id="12" name="Text 10"/>
          <p:cNvSpPr/>
          <p:nvPr/>
        </p:nvSpPr>
        <p:spPr>
          <a:xfrm>
            <a:off x="2560320" y="3886200"/>
            <a:ext cx="4572000" cy="4572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ese nombre ya existe, intenta _c2</a:t>
            </a:r>
            <a:endParaRPr lang="en-US" sz="1300" dirty="0"/>
          </a:p>
        </p:txBody>
      </p:sp>
      <p:sp>
        <p:nvSpPr>
          <p:cNvPr id="13" name="Shape 11"/>
          <p:cNvSpPr/>
          <p:nvPr/>
        </p:nvSpPr>
        <p:spPr>
          <a:xfrm>
            <a:off x="7406640" y="3840480"/>
            <a:ext cx="3840480" cy="548640"/>
          </a:xfrm>
          <a:prstGeom prst="roundRect">
            <a:avLst>
              <a:gd name="adj" fmla="val 16667"/>
            </a:avLst>
          </a:prstGeom>
          <a:solidFill>
            <a:srgbClr val="16A34A"/>
          </a:solidFill>
          <a:ln/>
        </p:spPr>
      </p:sp>
      <p:sp>
        <p:nvSpPr>
          <p:cNvPr id="14" name="Text 12"/>
          <p:cNvSpPr/>
          <p:nvPr/>
        </p:nvSpPr>
        <p:spPr>
          <a:xfrm>
            <a:off x="7406640" y="3840480"/>
            <a:ext cx="3840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 queda con la cancha 2</a:t>
            </a:r>
            <a:endParaRPr lang="en-US" sz="1300" dirty="0"/>
          </a:p>
        </p:txBody>
      </p:sp>
      <p:sp>
        <p:nvSpPr>
          <p:cNvPr id="15" name="Shape 13"/>
          <p:cNvSpPr/>
          <p:nvPr/>
        </p:nvSpPr>
        <p:spPr>
          <a:xfrm>
            <a:off x="594360" y="4846320"/>
            <a:ext cx="10972800" cy="1005840"/>
          </a:xfrm>
          <a:prstGeom prst="roundRect">
            <a:avLst>
              <a:gd name="adj" fmla="val 10909"/>
            </a:avLst>
          </a:prstGeom>
          <a:solidFill>
            <a:srgbClr val="F4F8F5"/>
          </a:solidFill>
          <a:ln w="12700">
            <a:solidFill>
              <a:srgbClr val="E2EAE5"/>
            </a:solidFill>
            <a:prstDash val="solid"/>
          </a:ln>
        </p:spPr>
      </p:sp>
      <p:sp>
        <p:nvSpPr>
          <p:cNvPr id="16" name="Text 14"/>
          <p:cNvSpPr/>
          <p:nvPr/>
        </p:nvSpPr>
        <p:spPr>
          <a:xfrm>
            <a:off x="914400" y="5120640"/>
            <a:ext cx="1554480" cy="45720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Cliente C</a:t>
            </a:r>
            <a:endParaRPr lang="en-US" sz="1600" dirty="0"/>
          </a:p>
        </p:txBody>
      </p:sp>
      <p:sp>
        <p:nvSpPr>
          <p:cNvPr id="17" name="Text 15"/>
          <p:cNvSpPr/>
          <p:nvPr/>
        </p:nvSpPr>
        <p:spPr>
          <a:xfrm>
            <a:off x="2560320" y="5120640"/>
            <a:ext cx="4572000" cy="457200"/>
          </a:xfrm>
          <a:prstGeom prst="rect">
            <a:avLst/>
          </a:prstGeom>
          <a:noFill/>
          <a:ln/>
        </p:spPr>
        <p:txBody>
          <a:bodyPr wrap="square" lIns="0" tIns="0" rIns="0" bIns="0" rtlCol="0" anchor="ctr"/>
          <a:lstStyle/>
          <a:p>
            <a:pPr indent="0" marL="0">
              <a:buNone/>
            </a:pPr>
            <a:r>
              <a:rPr lang="en-US" sz="1300" dirty="0">
                <a:solidFill>
                  <a:srgbClr val="55656C"/>
                </a:solidFill>
                <a:latin typeface="Calibri" pitchFamily="34" charset="0"/>
                <a:ea typeface="Calibri" pitchFamily="34" charset="-122"/>
                <a:cs typeface="Calibri" pitchFamily="34" charset="-120"/>
              </a:rPr>
              <a:t>las dos canchas están tomadas</a:t>
            </a:r>
            <a:endParaRPr lang="en-US" sz="1300" dirty="0"/>
          </a:p>
        </p:txBody>
      </p:sp>
      <p:sp>
        <p:nvSpPr>
          <p:cNvPr id="18" name="Shape 16"/>
          <p:cNvSpPr/>
          <p:nvPr/>
        </p:nvSpPr>
        <p:spPr>
          <a:xfrm>
            <a:off x="7406640" y="5074920"/>
            <a:ext cx="3840480" cy="548640"/>
          </a:xfrm>
          <a:prstGeom prst="roundRect">
            <a:avLst>
              <a:gd name="adj" fmla="val 16667"/>
            </a:avLst>
          </a:prstGeom>
          <a:solidFill>
            <a:srgbClr val="B45309"/>
          </a:solidFill>
          <a:ln/>
        </p:spPr>
      </p:sp>
      <p:sp>
        <p:nvSpPr>
          <p:cNvPr id="19" name="Text 17"/>
          <p:cNvSpPr/>
          <p:nvPr/>
        </p:nvSpPr>
        <p:spPr>
          <a:xfrm>
            <a:off x="7406640" y="5074920"/>
            <a:ext cx="3840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Aviso: esa hora se acaba de ocupar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C24"/>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Lo que encontramos al auditar la seguridad</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9DB3AA"/>
                </a:solidFill>
                <a:latin typeface="Calibri" pitchFamily="34" charset="0"/>
                <a:ea typeface="Calibri" pitchFamily="34" charset="-122"/>
                <a:cs typeface="Calibri" pitchFamily="34" charset="-120"/>
              </a:rPr>
              <a:t>Contarlo suma: demuestra que entendemos la diferencia entre que algo funcione y que sea seguro.</a:t>
            </a:r>
            <a:endParaRPr lang="en-US" sz="1500" dirty="0"/>
          </a:p>
        </p:txBody>
      </p:sp>
      <p:sp>
        <p:nvSpPr>
          <p:cNvPr id="4" name="Shape 2"/>
          <p:cNvSpPr/>
          <p:nvPr/>
        </p:nvSpPr>
        <p:spPr>
          <a:xfrm>
            <a:off x="594360" y="1920240"/>
            <a:ext cx="5394960" cy="3291840"/>
          </a:xfrm>
          <a:prstGeom prst="roundRect">
            <a:avLst>
              <a:gd name="adj" fmla="val 3333"/>
            </a:avLst>
          </a:prstGeom>
          <a:solidFill>
            <a:srgbClr val="14323D"/>
          </a:solidFill>
          <a:ln w="12700">
            <a:solidFill>
              <a:srgbClr val="2A4A55"/>
            </a:solidFill>
            <a:prstDash val="solid"/>
          </a:ln>
        </p:spPr>
      </p:sp>
      <p:sp>
        <p:nvSpPr>
          <p:cNvPr id="5" name="Text 3"/>
          <p:cNvSpPr/>
          <p:nvPr/>
        </p:nvSpPr>
        <p:spPr>
          <a:xfrm>
            <a:off x="914400" y="2194560"/>
            <a:ext cx="4572000" cy="365760"/>
          </a:xfrm>
          <a:prstGeom prst="rect">
            <a:avLst/>
          </a:prstGeom>
          <a:noFill/>
          <a:ln/>
        </p:spPr>
        <p:txBody>
          <a:bodyPr wrap="square" lIns="0" tIns="0" rIns="0" bIns="0" rtlCol="0" anchor="ctr"/>
          <a:lstStyle/>
          <a:p>
            <a:pPr indent="0" marL="0">
              <a:buNone/>
            </a:pPr>
            <a:r>
              <a:rPr lang="en-US" sz="1900" b="1" dirty="0">
                <a:solidFill>
                  <a:srgbClr val="F87171"/>
                </a:solidFill>
                <a:latin typeface="Calibri" pitchFamily="34" charset="0"/>
                <a:ea typeface="Calibri" pitchFamily="34" charset="-122"/>
                <a:cs typeface="Calibri" pitchFamily="34" charset="-120"/>
              </a:rPr>
              <a:t>Antes</a:t>
            </a:r>
            <a:endParaRPr lang="en-US" sz="1900" dirty="0"/>
          </a:p>
        </p:txBody>
      </p:sp>
      <p:sp>
        <p:nvSpPr>
          <p:cNvPr id="6" name="Text 4"/>
          <p:cNvSpPr/>
          <p:nvPr/>
        </p:nvSpPr>
        <p:spPr>
          <a:xfrm>
            <a:off x="914400" y="2743200"/>
            <a:ext cx="475488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La base de datos estaba abierta: cualquiera podía leer nombres, correos y teléfonos de los clientes.</a:t>
            </a:r>
            <a:endParaRPr lang="en-US" sz="1300" dirty="0"/>
          </a:p>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También se podían borrar o falsear reservas desde fuera.</a:t>
            </a:r>
            <a:endParaRPr lang="en-US" sz="1300" dirty="0"/>
          </a:p>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La contraseña del panel estaba escrita dentro del código, a la vista.</a:t>
            </a:r>
            <a:endParaRPr lang="en-US" sz="1300" dirty="0"/>
          </a:p>
        </p:txBody>
      </p:sp>
      <p:sp>
        <p:nvSpPr>
          <p:cNvPr id="7" name="Shape 5"/>
          <p:cNvSpPr/>
          <p:nvPr/>
        </p:nvSpPr>
        <p:spPr>
          <a:xfrm>
            <a:off x="6172200" y="1920240"/>
            <a:ext cx="5394960" cy="3291840"/>
          </a:xfrm>
          <a:prstGeom prst="roundRect">
            <a:avLst>
              <a:gd name="adj" fmla="val 3333"/>
            </a:avLst>
          </a:prstGeom>
          <a:solidFill>
            <a:srgbClr val="14323D"/>
          </a:solidFill>
          <a:ln w="12700">
            <a:solidFill>
              <a:srgbClr val="2A4A55"/>
            </a:solidFill>
            <a:prstDash val="solid"/>
          </a:ln>
        </p:spPr>
      </p:sp>
      <p:sp>
        <p:nvSpPr>
          <p:cNvPr id="8" name="Text 6"/>
          <p:cNvSpPr/>
          <p:nvPr/>
        </p:nvSpPr>
        <p:spPr>
          <a:xfrm>
            <a:off x="6492240" y="2194560"/>
            <a:ext cx="4572000" cy="365760"/>
          </a:xfrm>
          <a:prstGeom prst="rect">
            <a:avLst/>
          </a:prstGeom>
          <a:noFill/>
          <a:ln/>
        </p:spPr>
        <p:txBody>
          <a:bodyPr wrap="square" lIns="0" tIns="0" rIns="0" bIns="0" rtlCol="0" anchor="ctr"/>
          <a:lstStyle/>
          <a:p>
            <a:pPr indent="0" marL="0">
              <a:buNone/>
            </a:pPr>
            <a:r>
              <a:rPr lang="en-US" sz="1900" b="1" dirty="0">
                <a:solidFill>
                  <a:srgbClr val="A3E635"/>
                </a:solidFill>
                <a:latin typeface="Calibri" pitchFamily="34" charset="0"/>
                <a:ea typeface="Calibri" pitchFamily="34" charset="-122"/>
                <a:cs typeface="Calibri" pitchFamily="34" charset="-120"/>
              </a:rPr>
              <a:t>Ahora</a:t>
            </a:r>
            <a:endParaRPr lang="en-US" sz="1900" dirty="0"/>
          </a:p>
        </p:txBody>
      </p:sp>
      <p:sp>
        <p:nvSpPr>
          <p:cNvPr id="9" name="Text 7"/>
          <p:cNvSpPr/>
          <p:nvPr/>
        </p:nvSpPr>
        <p:spPr>
          <a:xfrm>
            <a:off x="6492240" y="2743200"/>
            <a:ext cx="475488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Las reglas de Firebase cierran el acceso: cada cliente solo alcanza sus propias reservas.</a:t>
            </a:r>
            <a:endParaRPr lang="en-US" sz="1300" dirty="0"/>
          </a:p>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Las contraseñas las maneja Firebase; el sitio nunca las ve ni las guarda.</a:t>
            </a:r>
            <a:endParaRPr lang="en-US" sz="1300" dirty="0"/>
          </a:p>
          <a:p>
            <a:pPr marL="342900" indent="-342900">
              <a:spcAft>
                <a:spcPts val="1000"/>
              </a:spcAft>
              <a:buSzPct val="100000"/>
              <a:buChar char="•"/>
            </a:pPr>
            <a:r>
              <a:rPr lang="en-US" sz="1300" dirty="0">
                <a:solidFill>
                  <a:srgbClr val="CFE0D8"/>
                </a:solidFill>
                <a:latin typeface="Calibri" pitchFamily="34" charset="0"/>
                <a:ea typeface="Calibri" pitchFamily="34" charset="-122"/>
                <a:cs typeface="Calibri" pitchFamily="34" charset="-120"/>
              </a:rPr>
              <a:t>Ser administrador depende de una autorización que solo se crea desde la consola.</a:t>
            </a:r>
            <a:endParaRPr lang="en-US" sz="1300" dirty="0"/>
          </a:p>
        </p:txBody>
      </p:sp>
      <p:sp>
        <p:nvSpPr>
          <p:cNvPr id="10" name="Text 8"/>
          <p:cNvSpPr/>
          <p:nvPr/>
        </p:nvSpPr>
        <p:spPr>
          <a:xfrm>
            <a:off x="594360" y="5669280"/>
            <a:ext cx="10972800" cy="457200"/>
          </a:xfrm>
          <a:prstGeom prst="rect">
            <a:avLst/>
          </a:prstGeom>
          <a:noFill/>
          <a:ln/>
        </p:spPr>
        <p:txBody>
          <a:bodyPr wrap="square" lIns="0" tIns="0" rIns="0" bIns="0" rtlCol="0" anchor="ctr"/>
          <a:lstStyle/>
          <a:p>
            <a:pPr indent="0" marL="0">
              <a:buNone/>
            </a:pPr>
            <a:r>
              <a:rPr lang="en-US" sz="1500" i="1" dirty="0">
                <a:solidFill>
                  <a:srgbClr val="A3E635"/>
                </a:solidFill>
                <a:latin typeface="Calibri" pitchFamily="34" charset="0"/>
                <a:ea typeface="Calibri" pitchFamily="34" charset="-122"/>
                <a:cs typeface="Calibri" pitchFamily="34" charset="-120"/>
              </a:rPr>
              <a:t>La seguridad de un sitio no está en el diseño ni en el código bonito, sino en quién puede hacer qué.</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Quién puede ver y hacer qué</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10972800" cy="914400"/>
        </p:xfrm>
        <a:graphic>
          <a:graphicData uri="http://schemas.openxmlformats.org/drawingml/2006/table">
            <a:tbl>
              <a:tblPr/>
              <a:tblGrid>
                <a:gridCol w="2194560"/>
                <a:gridCol w="3657600"/>
                <a:gridCol w="5120640"/>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Quién</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0A1C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Cómo entra</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0A1C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Qué alcanza</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0A1C24"/>
                    </a:solidFill>
                  </a:tcPr>
                </a:tc>
              </a:tr>
              <a:tr h="658368">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Visitante</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Sin cuenta</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Catálogo, precios y qué horas están libres</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Invitado</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Identidad temporal al reservar</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Solo sus propias reservas</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r>
              <a:tr h="658368">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Cliente</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Correo y contraseña</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Su perfil y su historial. Nada de otros clientes</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Personal</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Cuenta autorizada desde la consola</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c>
                  <a:txBody>
                    <a:bodyPr/>
                    <a:lstStyle/>
                    <a:p>
                      <a:pPr indent="0" marL="0">
                        <a:buNone/>
                      </a:pPr>
                      <a:r>
                        <a:rPr lang="en-US" sz="1300" dirty="0">
                          <a:solidFill>
                            <a:srgbClr val="1F2B30"/>
                          </a:solidFill>
                          <a:latin typeface="Calibri" pitchFamily="34" charset="0"/>
                          <a:ea typeface="Calibri" pitchFamily="34" charset="-122"/>
                          <a:cs typeface="Calibri" pitchFamily="34" charset="-120"/>
                        </a:rPr>
                        <a:t>Todas las reservas, precios, cupos y horarios</a:t>
                      </a:r>
                      <a:endParaRPr lang="en-US" sz="1300" dirty="0">
                        <a:latin typeface="Calibri" charset="0"/>
                        <a:ea typeface="Calibri" charset="0"/>
                        <a:cs typeface="Calibri" charset="0"/>
                      </a:endParaRPr>
                    </a:p>
                  </a:txBody>
                  <a:tcPr marL="91440" marR="91440" marT="45720" marB="45720" anchor="ctr">
                    <a:lnL w="12700" cap="flat" cmpd="sng" algn="ctr">
                      <a:solidFill>
                        <a:srgbClr val="E2EAE5"/>
                      </a:solidFill>
                      <a:prstDash val="solid"/>
                      <a:round/>
                      <a:headEnd type="none" w="med" len="med"/>
                      <a:tailEnd type="none" w="med" len="med"/>
                    </a:lnL>
                    <a:lnR w="12700" cap="flat" cmpd="sng" algn="ctr">
                      <a:solidFill>
                        <a:srgbClr val="E2EAE5"/>
                      </a:solidFill>
                      <a:prstDash val="solid"/>
                      <a:round/>
                      <a:headEnd type="none" w="med" len="med"/>
                      <a:tailEnd type="none" w="med" len="med"/>
                    </a:lnR>
                    <a:lnT w="12700" cap="flat" cmpd="sng" algn="ctr">
                      <a:solidFill>
                        <a:srgbClr val="E2EAE5"/>
                      </a:solidFill>
                      <a:prstDash val="solid"/>
                      <a:round/>
                      <a:headEnd type="none" w="med" len="med"/>
                      <a:tailEnd type="none" w="med" len="med"/>
                    </a:lnT>
                    <a:lnB w="12700" cap="flat" cmpd="sng" algn="ctr">
                      <a:solidFill>
                        <a:srgbClr val="E2EAE5"/>
                      </a:solidFill>
                      <a:prstDash val="solid"/>
                      <a:round/>
                      <a:headEnd type="none" w="med" len="med"/>
                      <a:tailEnd type="none" w="med" len="med"/>
                    </a:lnB>
                    <a:solidFill>
                      <a:srgbClr val="F4F8F5"/>
                    </a:solidFill>
                  </a:tcPr>
                </a:tc>
              </a:tr>
            </a:tbl>
          </a:graphicData>
        </a:graphic>
      </p:graphicFrame>
      <p:sp>
        <p:nvSpPr>
          <p:cNvPr id="4" name="Text 1"/>
          <p:cNvSpPr/>
          <p:nvPr/>
        </p:nvSpPr>
        <p:spPr>
          <a:xfrm>
            <a:off x="594360" y="5029200"/>
            <a:ext cx="10972800" cy="548640"/>
          </a:xfrm>
          <a:prstGeom prst="rect">
            <a:avLst/>
          </a:prstGeom>
          <a:noFill/>
          <a:ln/>
        </p:spPr>
        <p:txBody>
          <a:bodyPr wrap="square" lIns="0" tIns="0" rIns="0" bIns="0" rtlCol="0" anchor="ctr"/>
          <a:lstStyle/>
          <a:p>
            <a:pPr indent="0" marL="0">
              <a:buNone/>
            </a:pPr>
            <a:r>
              <a:rPr lang="en-US" sz="1350" i="1" dirty="0">
                <a:solidFill>
                  <a:srgbClr val="0A1C24"/>
                </a:solidFill>
                <a:latin typeface="Calibri" pitchFamily="34" charset="0"/>
                <a:ea typeface="Calibri" pitchFamily="34" charset="-122"/>
                <a:cs typeface="Calibri" pitchFamily="34" charset="-120"/>
              </a:rPr>
              <a:t>Un cliente que intente consultar las reservas de otro recibe un rechazo del servidor, no una pantalla en blanco: la restricción vive en Firebase, no en el navegador.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El panel del personal</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Área privada, fuera del menú y con instrucción de no aparecer en buscadores.</a:t>
            </a:r>
            <a:endParaRPr lang="en-US" sz="1500" dirty="0"/>
          </a:p>
        </p:txBody>
      </p:sp>
      <p:sp>
        <p:nvSpPr>
          <p:cNvPr id="4" name="Shape 2"/>
          <p:cNvSpPr/>
          <p:nvPr/>
        </p:nvSpPr>
        <p:spPr>
          <a:xfrm>
            <a:off x="594360" y="1783080"/>
            <a:ext cx="320040" cy="320040"/>
          </a:xfrm>
          <a:prstGeom prst="ellipse">
            <a:avLst/>
          </a:prstGeom>
          <a:solidFill>
            <a:srgbClr val="16A34A"/>
          </a:solidFill>
          <a:ln/>
        </p:spPr>
      </p:sp>
      <p:sp>
        <p:nvSpPr>
          <p:cNvPr id="5" name="Text 3"/>
          <p:cNvSpPr/>
          <p:nvPr/>
        </p:nvSpPr>
        <p:spPr>
          <a:xfrm>
            <a:off x="594360" y="1783080"/>
            <a:ext cx="320040" cy="320040"/>
          </a:xfrm>
          <a:prstGeom prst="rect">
            <a:avLst/>
          </a:prstGeom>
          <a:noFill/>
          <a:ln/>
        </p:spPr>
        <p:txBody>
          <a:bodyPr wrap="square" lIns="0" tIns="0" rIns="0" bIns="0" rtlCol="0" anchor="ctr"/>
          <a:lstStyle/>
          <a:p>
            <a:pPr algn="ctr" indent="0" marL="0">
              <a:buNone/>
            </a:pPr>
            <a:endParaRPr lang="en-US" sz="1600" dirty="0"/>
          </a:p>
        </p:txBody>
      </p:sp>
      <p:sp>
        <p:nvSpPr>
          <p:cNvPr id="6" name="Text 4"/>
          <p:cNvSpPr/>
          <p:nvPr/>
        </p:nvSpPr>
        <p:spPr>
          <a:xfrm>
            <a:off x="1143000" y="173736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Reservas</a:t>
            </a:r>
            <a:endParaRPr lang="en-US" sz="1600" dirty="0"/>
          </a:p>
        </p:txBody>
      </p:sp>
      <p:sp>
        <p:nvSpPr>
          <p:cNvPr id="7" name="Text 5"/>
          <p:cNvSpPr/>
          <p:nvPr/>
        </p:nvSpPr>
        <p:spPr>
          <a:xfrm>
            <a:off x="1143000" y="213055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Cliente, teléfono, fecha, total y método de pago de cada una.</a:t>
            </a:r>
            <a:endParaRPr lang="en-US" sz="1250" dirty="0"/>
          </a:p>
        </p:txBody>
      </p:sp>
      <p:sp>
        <p:nvSpPr>
          <p:cNvPr id="8" name="Shape 6"/>
          <p:cNvSpPr/>
          <p:nvPr/>
        </p:nvSpPr>
        <p:spPr>
          <a:xfrm>
            <a:off x="6263640" y="1783080"/>
            <a:ext cx="320040" cy="320040"/>
          </a:xfrm>
          <a:prstGeom prst="ellipse">
            <a:avLst/>
          </a:prstGeom>
          <a:solidFill>
            <a:srgbClr val="16A34A"/>
          </a:solidFill>
          <a:ln/>
        </p:spPr>
      </p:sp>
      <p:sp>
        <p:nvSpPr>
          <p:cNvPr id="9" name="Text 7"/>
          <p:cNvSpPr/>
          <p:nvPr/>
        </p:nvSpPr>
        <p:spPr>
          <a:xfrm>
            <a:off x="6263640" y="1783080"/>
            <a:ext cx="320040" cy="320040"/>
          </a:xfrm>
          <a:prstGeom prst="rect">
            <a:avLst/>
          </a:prstGeom>
          <a:noFill/>
          <a:ln/>
        </p:spPr>
        <p:txBody>
          <a:bodyPr wrap="square" lIns="0" tIns="0" rIns="0" bIns="0" rtlCol="0" anchor="ctr"/>
          <a:lstStyle/>
          <a:p>
            <a:pPr algn="ctr" indent="0" marL="0">
              <a:buNone/>
            </a:pPr>
            <a:endParaRPr lang="en-US" sz="1600" dirty="0"/>
          </a:p>
        </p:txBody>
      </p:sp>
      <p:sp>
        <p:nvSpPr>
          <p:cNvPr id="10" name="Text 8"/>
          <p:cNvSpPr/>
          <p:nvPr/>
        </p:nvSpPr>
        <p:spPr>
          <a:xfrm>
            <a:off x="6812280" y="173736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Estados</a:t>
            </a:r>
            <a:endParaRPr lang="en-US" sz="1600" dirty="0"/>
          </a:p>
        </p:txBody>
      </p:sp>
      <p:sp>
        <p:nvSpPr>
          <p:cNvPr id="11" name="Text 9"/>
          <p:cNvSpPr/>
          <p:nvPr/>
        </p:nvSpPr>
        <p:spPr>
          <a:xfrm>
            <a:off x="6812280" y="213055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Pendiente, confirmada, atendida o cancelada.</a:t>
            </a:r>
            <a:endParaRPr lang="en-US" sz="1250" dirty="0"/>
          </a:p>
        </p:txBody>
      </p:sp>
      <p:sp>
        <p:nvSpPr>
          <p:cNvPr id="12" name="Shape 10"/>
          <p:cNvSpPr/>
          <p:nvPr/>
        </p:nvSpPr>
        <p:spPr>
          <a:xfrm>
            <a:off x="594360" y="3246120"/>
            <a:ext cx="320040" cy="320040"/>
          </a:xfrm>
          <a:prstGeom prst="ellipse">
            <a:avLst/>
          </a:prstGeom>
          <a:solidFill>
            <a:srgbClr val="16A34A"/>
          </a:solidFill>
          <a:ln/>
        </p:spPr>
      </p:sp>
      <p:sp>
        <p:nvSpPr>
          <p:cNvPr id="13" name="Text 11"/>
          <p:cNvSpPr/>
          <p:nvPr/>
        </p:nvSpPr>
        <p:spPr>
          <a:xfrm>
            <a:off x="594360" y="3246120"/>
            <a:ext cx="320040" cy="320040"/>
          </a:xfrm>
          <a:prstGeom prst="rect">
            <a:avLst/>
          </a:prstGeom>
          <a:noFill/>
          <a:ln/>
        </p:spPr>
        <p:txBody>
          <a:bodyPr wrap="square" lIns="0" tIns="0" rIns="0" bIns="0" rtlCol="0" anchor="ctr"/>
          <a:lstStyle/>
          <a:p>
            <a:pPr algn="ctr" indent="0" marL="0">
              <a:buNone/>
            </a:pPr>
            <a:endParaRPr lang="en-US" sz="1600" dirty="0"/>
          </a:p>
        </p:txBody>
      </p:sp>
      <p:sp>
        <p:nvSpPr>
          <p:cNvPr id="14" name="Text 12"/>
          <p:cNvSpPr/>
          <p:nvPr/>
        </p:nvSpPr>
        <p:spPr>
          <a:xfrm>
            <a:off x="1143000" y="320040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Catálogo</a:t>
            </a:r>
            <a:endParaRPr lang="en-US" sz="1600" dirty="0"/>
          </a:p>
        </p:txBody>
      </p:sp>
      <p:sp>
        <p:nvSpPr>
          <p:cNvPr id="15" name="Text 13"/>
          <p:cNvSpPr/>
          <p:nvPr/>
        </p:nvSpPr>
        <p:spPr>
          <a:xfrm>
            <a:off x="1143000" y="359359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Cambiar precios y cupos, u ocultar un servicio sin borrarlo.</a:t>
            </a:r>
            <a:endParaRPr lang="en-US" sz="1250" dirty="0"/>
          </a:p>
        </p:txBody>
      </p:sp>
      <p:sp>
        <p:nvSpPr>
          <p:cNvPr id="16" name="Shape 14"/>
          <p:cNvSpPr/>
          <p:nvPr/>
        </p:nvSpPr>
        <p:spPr>
          <a:xfrm>
            <a:off x="6263640" y="3246120"/>
            <a:ext cx="320040" cy="320040"/>
          </a:xfrm>
          <a:prstGeom prst="ellipse">
            <a:avLst/>
          </a:prstGeom>
          <a:solidFill>
            <a:srgbClr val="16A34A"/>
          </a:solidFill>
          <a:ln/>
        </p:spPr>
      </p:sp>
      <p:sp>
        <p:nvSpPr>
          <p:cNvPr id="17" name="Text 15"/>
          <p:cNvSpPr/>
          <p:nvPr/>
        </p:nvSpPr>
        <p:spPr>
          <a:xfrm>
            <a:off x="6263640" y="3246120"/>
            <a:ext cx="320040" cy="320040"/>
          </a:xfrm>
          <a:prstGeom prst="rect">
            <a:avLst/>
          </a:prstGeom>
          <a:noFill/>
          <a:ln/>
        </p:spPr>
        <p:txBody>
          <a:bodyPr wrap="square" lIns="0" tIns="0" rIns="0" bIns="0" rtlCol="0" anchor="ctr"/>
          <a:lstStyle/>
          <a:p>
            <a:pPr algn="ctr" indent="0" marL="0">
              <a:buNone/>
            </a:pPr>
            <a:endParaRPr lang="en-US" sz="1600" dirty="0"/>
          </a:p>
        </p:txBody>
      </p:sp>
      <p:sp>
        <p:nvSpPr>
          <p:cNvPr id="18" name="Text 16"/>
          <p:cNvSpPr/>
          <p:nvPr/>
        </p:nvSpPr>
        <p:spPr>
          <a:xfrm>
            <a:off x="6812280" y="320040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Clientes</a:t>
            </a:r>
            <a:endParaRPr lang="en-US" sz="1600" dirty="0"/>
          </a:p>
        </p:txBody>
      </p:sp>
      <p:sp>
        <p:nvSpPr>
          <p:cNvPr id="19" name="Text 17"/>
          <p:cNvSpPr/>
          <p:nvPr/>
        </p:nvSpPr>
        <p:spPr>
          <a:xfrm>
            <a:off x="6812280" y="359359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Quiénes se registraron y cuántas reservas llevan.</a:t>
            </a:r>
            <a:endParaRPr lang="en-US" sz="1250" dirty="0"/>
          </a:p>
        </p:txBody>
      </p:sp>
      <p:sp>
        <p:nvSpPr>
          <p:cNvPr id="20" name="Shape 18"/>
          <p:cNvSpPr/>
          <p:nvPr/>
        </p:nvSpPr>
        <p:spPr>
          <a:xfrm>
            <a:off x="594360" y="4709160"/>
            <a:ext cx="320040" cy="320040"/>
          </a:xfrm>
          <a:prstGeom prst="ellipse">
            <a:avLst/>
          </a:prstGeom>
          <a:solidFill>
            <a:srgbClr val="16A34A"/>
          </a:solidFill>
          <a:ln/>
        </p:spPr>
      </p:sp>
      <p:sp>
        <p:nvSpPr>
          <p:cNvPr id="21" name="Text 19"/>
          <p:cNvSpPr/>
          <p:nvPr/>
        </p:nvSpPr>
        <p:spPr>
          <a:xfrm>
            <a:off x="594360" y="4709160"/>
            <a:ext cx="320040" cy="320040"/>
          </a:xfrm>
          <a:prstGeom prst="rect">
            <a:avLst/>
          </a:prstGeom>
          <a:noFill/>
          <a:ln/>
        </p:spPr>
        <p:txBody>
          <a:bodyPr wrap="square" lIns="0" tIns="0" rIns="0" bIns="0" rtlCol="0" anchor="ctr"/>
          <a:lstStyle/>
          <a:p>
            <a:pPr algn="ctr" indent="0" marL="0">
              <a:buNone/>
            </a:pPr>
            <a:endParaRPr lang="en-US" sz="1600" dirty="0"/>
          </a:p>
        </p:txBody>
      </p:sp>
      <p:sp>
        <p:nvSpPr>
          <p:cNvPr id="22" name="Text 20"/>
          <p:cNvSpPr/>
          <p:nvPr/>
        </p:nvSpPr>
        <p:spPr>
          <a:xfrm>
            <a:off x="1143000" y="466344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Horarios</a:t>
            </a:r>
            <a:endParaRPr lang="en-US" sz="1600" dirty="0"/>
          </a:p>
        </p:txBody>
      </p:sp>
      <p:sp>
        <p:nvSpPr>
          <p:cNvPr id="23" name="Text 21"/>
          <p:cNvSpPr/>
          <p:nvPr/>
        </p:nvSpPr>
        <p:spPr>
          <a:xfrm>
            <a:off x="1143000" y="505663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Bloquear horas por mantenimiento, ligas o eventos.</a:t>
            </a:r>
            <a:endParaRPr lang="en-US" sz="1250" dirty="0"/>
          </a:p>
        </p:txBody>
      </p:sp>
      <p:sp>
        <p:nvSpPr>
          <p:cNvPr id="24" name="Shape 22"/>
          <p:cNvSpPr/>
          <p:nvPr/>
        </p:nvSpPr>
        <p:spPr>
          <a:xfrm>
            <a:off x="6263640" y="4709160"/>
            <a:ext cx="320040" cy="320040"/>
          </a:xfrm>
          <a:prstGeom prst="ellipse">
            <a:avLst/>
          </a:prstGeom>
          <a:solidFill>
            <a:srgbClr val="16A34A"/>
          </a:solidFill>
          <a:ln/>
        </p:spPr>
      </p:sp>
      <p:sp>
        <p:nvSpPr>
          <p:cNvPr id="25" name="Text 23"/>
          <p:cNvSpPr/>
          <p:nvPr/>
        </p:nvSpPr>
        <p:spPr>
          <a:xfrm>
            <a:off x="6263640" y="4709160"/>
            <a:ext cx="320040" cy="320040"/>
          </a:xfrm>
          <a:prstGeom prst="rect">
            <a:avLst/>
          </a:prstGeom>
          <a:noFill/>
          <a:ln/>
        </p:spPr>
        <p:txBody>
          <a:bodyPr wrap="square" lIns="0" tIns="0" rIns="0" bIns="0" rtlCol="0" anchor="ctr"/>
          <a:lstStyle/>
          <a:p>
            <a:pPr algn="ctr" indent="0" marL="0">
              <a:buNone/>
            </a:pPr>
            <a:endParaRPr lang="en-US" sz="1600" dirty="0"/>
          </a:p>
        </p:txBody>
      </p:sp>
      <p:sp>
        <p:nvSpPr>
          <p:cNvPr id="26" name="Text 24"/>
          <p:cNvSpPr/>
          <p:nvPr/>
        </p:nvSpPr>
        <p:spPr>
          <a:xfrm>
            <a:off x="6812280" y="4663440"/>
            <a:ext cx="4754880" cy="36576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Resumen</a:t>
            </a:r>
            <a:endParaRPr lang="en-US" sz="1600" dirty="0"/>
          </a:p>
        </p:txBody>
      </p:sp>
      <p:sp>
        <p:nvSpPr>
          <p:cNvPr id="27" name="Text 25"/>
          <p:cNvSpPr/>
          <p:nvPr/>
        </p:nvSpPr>
        <p:spPr>
          <a:xfrm>
            <a:off x="6812280" y="5056632"/>
            <a:ext cx="4846320" cy="64008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Reservas totales, pendientes e ingresos registrados.</a:t>
            </a:r>
            <a:endParaRPr lang="en-US" sz="1250" dirty="0"/>
          </a:p>
        </p:txBody>
      </p:sp>
      <p:sp>
        <p:nvSpPr>
          <p:cNvPr id="28" name="Text 26"/>
          <p:cNvSpPr/>
          <p:nvPr/>
        </p:nvSpPr>
        <p:spPr>
          <a:xfrm>
            <a:off x="594360" y="5943600"/>
            <a:ext cx="10972800" cy="457200"/>
          </a:xfrm>
          <a:prstGeom prst="rect">
            <a:avLst/>
          </a:prstGeom>
          <a:noFill/>
          <a:ln/>
        </p:spPr>
        <p:txBody>
          <a:bodyPr wrap="square" lIns="0" tIns="0" rIns="0" bIns="0" rtlCol="0" anchor="ctr"/>
          <a:lstStyle/>
          <a:p>
            <a:pPr indent="0" marL="0">
              <a:buNone/>
            </a:pPr>
            <a:r>
              <a:rPr lang="en-US" sz="1350" i="1" dirty="0">
                <a:solidFill>
                  <a:srgbClr val="0A1C24"/>
                </a:solidFill>
                <a:latin typeface="Calibri" pitchFamily="34" charset="0"/>
                <a:ea typeface="Calibri" pitchFamily="34" charset="-122"/>
                <a:cs typeface="Calibri" pitchFamily="34" charset="-120"/>
              </a:rPr>
              <a:t>Cancelar una reserva libera automáticamente esa cancha, para que otro cliente pueda tomarla.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Qué exige la ley y dónde se cumple</a:t>
            </a:r>
            <a:endParaRPr lang="en-US" sz="3400" dirty="0"/>
          </a:p>
        </p:txBody>
      </p:sp>
      <p:sp>
        <p:nvSpPr>
          <p:cNvPr id="3" name="Shape 1"/>
          <p:cNvSpPr/>
          <p:nvPr/>
        </p:nvSpPr>
        <p:spPr>
          <a:xfrm>
            <a:off x="594360" y="1554480"/>
            <a:ext cx="5394960" cy="2057400"/>
          </a:xfrm>
          <a:prstGeom prst="roundRect">
            <a:avLst>
              <a:gd name="adj" fmla="val 5333"/>
            </a:avLst>
          </a:prstGeom>
          <a:solidFill>
            <a:srgbClr val="F4F8F5"/>
          </a:solidFill>
          <a:ln w="12700">
            <a:solidFill>
              <a:srgbClr val="E2EAE5"/>
            </a:solidFill>
            <a:prstDash val="solid"/>
          </a:ln>
        </p:spPr>
      </p:sp>
      <p:sp>
        <p:nvSpPr>
          <p:cNvPr id="4" name="Text 2"/>
          <p:cNvSpPr/>
          <p:nvPr/>
        </p:nvSpPr>
        <p:spPr>
          <a:xfrm>
            <a:off x="914400" y="1755648"/>
            <a:ext cx="3657600" cy="32004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Comercio electrónico</a:t>
            </a:r>
            <a:endParaRPr lang="en-US" sz="1600" dirty="0"/>
          </a:p>
        </p:txBody>
      </p:sp>
      <p:sp>
        <p:nvSpPr>
          <p:cNvPr id="5" name="Text 3"/>
          <p:cNvSpPr/>
          <p:nvPr/>
        </p:nvSpPr>
        <p:spPr>
          <a:xfrm>
            <a:off x="914400" y="2103120"/>
            <a:ext cx="4754880" cy="274320"/>
          </a:xfrm>
          <a:prstGeom prst="rect">
            <a:avLst/>
          </a:prstGeom>
          <a:noFill/>
          <a:ln/>
        </p:spPr>
        <p:txBody>
          <a:bodyPr wrap="square" lIns="0" tIns="0" rIns="0" bIns="0" rtlCol="0" anchor="ctr"/>
          <a:lstStyle/>
          <a:p>
            <a:pPr indent="0" marL="0">
              <a:buNone/>
            </a:pPr>
            <a:r>
              <a:rPr lang="en-US" sz="1150" dirty="0">
                <a:solidFill>
                  <a:srgbClr val="0F7A37"/>
                </a:solidFill>
                <a:latin typeface="Calibri" pitchFamily="34" charset="0"/>
                <a:ea typeface="Calibri" pitchFamily="34" charset="-122"/>
                <a:cs typeface="Calibri" pitchFamily="34" charset="-120"/>
              </a:rPr>
              <a:t>Decreto 149-2014</a:t>
            </a:r>
            <a:endParaRPr lang="en-US" sz="1150" dirty="0"/>
          </a:p>
        </p:txBody>
      </p:sp>
      <p:sp>
        <p:nvSpPr>
          <p:cNvPr id="6" name="Text 4"/>
          <p:cNvSpPr/>
          <p:nvPr/>
        </p:nvSpPr>
        <p:spPr>
          <a:xfrm>
            <a:off x="914400" y="2423160"/>
            <a:ext cx="4754880" cy="5029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Identificar al comercio, dejar constancia de la operación y consentimiento expreso del cliente.</a:t>
            </a:r>
            <a:endParaRPr lang="en-US" sz="1200" dirty="0"/>
          </a:p>
        </p:txBody>
      </p:sp>
      <p:sp>
        <p:nvSpPr>
          <p:cNvPr id="7" name="Text 5"/>
          <p:cNvSpPr/>
          <p:nvPr/>
        </p:nvSpPr>
        <p:spPr>
          <a:xfrm>
            <a:off x="914400" y="2926080"/>
            <a:ext cx="4754880" cy="548640"/>
          </a:xfrm>
          <a:prstGeom prst="rect">
            <a:avLst/>
          </a:prstGeom>
          <a:noFill/>
          <a:ln/>
        </p:spPr>
        <p:txBody>
          <a:bodyPr wrap="square" lIns="0" tIns="0" rIns="0" bIns="0" rtlCol="0" anchor="ctr"/>
          <a:lstStyle/>
          <a:p>
            <a:pPr indent="0" marL="0">
              <a:buNone/>
            </a:pPr>
            <a:r>
              <a:rPr lang="en-US" sz="1200" b="1" dirty="0">
                <a:solidFill>
                  <a:srgbClr val="1F2B30"/>
                </a:solidFill>
                <a:latin typeface="Calibri" pitchFamily="34" charset="0"/>
                <a:ea typeface="Calibri" pitchFamily="34" charset="-122"/>
                <a:cs typeface="Calibri" pitchFamily="34" charset="-120"/>
              </a:rPr>
              <a:t>Datos en el pie de todas las páginas, comprobante con número propio y confirmación deliberada.</a:t>
            </a:r>
            <a:endParaRPr lang="en-US" sz="1200" dirty="0"/>
          </a:p>
        </p:txBody>
      </p:sp>
      <p:sp>
        <p:nvSpPr>
          <p:cNvPr id="8" name="Shape 6"/>
          <p:cNvSpPr/>
          <p:nvPr/>
        </p:nvSpPr>
        <p:spPr>
          <a:xfrm>
            <a:off x="6263640" y="1554480"/>
            <a:ext cx="5394960" cy="2057400"/>
          </a:xfrm>
          <a:prstGeom prst="roundRect">
            <a:avLst>
              <a:gd name="adj" fmla="val 5333"/>
            </a:avLst>
          </a:prstGeom>
          <a:solidFill>
            <a:srgbClr val="F4F8F5"/>
          </a:solidFill>
          <a:ln w="12700">
            <a:solidFill>
              <a:srgbClr val="E2EAE5"/>
            </a:solidFill>
            <a:prstDash val="solid"/>
          </a:ln>
        </p:spPr>
      </p:sp>
      <p:sp>
        <p:nvSpPr>
          <p:cNvPr id="9" name="Text 7"/>
          <p:cNvSpPr/>
          <p:nvPr/>
        </p:nvSpPr>
        <p:spPr>
          <a:xfrm>
            <a:off x="6583680" y="1755648"/>
            <a:ext cx="3657600" cy="32004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Protección al consumidor</a:t>
            </a:r>
            <a:endParaRPr lang="en-US" sz="1600" dirty="0"/>
          </a:p>
        </p:txBody>
      </p:sp>
      <p:sp>
        <p:nvSpPr>
          <p:cNvPr id="10" name="Text 8"/>
          <p:cNvSpPr/>
          <p:nvPr/>
        </p:nvSpPr>
        <p:spPr>
          <a:xfrm>
            <a:off x="6583680" y="2103120"/>
            <a:ext cx="4754880" cy="274320"/>
          </a:xfrm>
          <a:prstGeom prst="rect">
            <a:avLst/>
          </a:prstGeom>
          <a:noFill/>
          <a:ln/>
        </p:spPr>
        <p:txBody>
          <a:bodyPr wrap="square" lIns="0" tIns="0" rIns="0" bIns="0" rtlCol="0" anchor="ctr"/>
          <a:lstStyle/>
          <a:p>
            <a:pPr indent="0" marL="0">
              <a:buNone/>
            </a:pPr>
            <a:r>
              <a:rPr lang="en-US" sz="1150" dirty="0">
                <a:solidFill>
                  <a:srgbClr val="0F7A37"/>
                </a:solidFill>
                <a:latin typeface="Calibri" pitchFamily="34" charset="0"/>
                <a:ea typeface="Calibri" pitchFamily="34" charset="-122"/>
                <a:cs typeface="Calibri" pitchFamily="34" charset="-120"/>
              </a:rPr>
              <a:t>Decreto 24-2008</a:t>
            </a:r>
            <a:endParaRPr lang="en-US" sz="1150" dirty="0"/>
          </a:p>
        </p:txBody>
      </p:sp>
      <p:sp>
        <p:nvSpPr>
          <p:cNvPr id="11" name="Text 9"/>
          <p:cNvSpPr/>
          <p:nvPr/>
        </p:nvSpPr>
        <p:spPr>
          <a:xfrm>
            <a:off x="6583680" y="2423160"/>
            <a:ext cx="4754880" cy="5029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Precio final sin cargos ocultos, información veraz y condiciones de cancelación conocidas.</a:t>
            </a:r>
            <a:endParaRPr lang="en-US" sz="1200" dirty="0"/>
          </a:p>
        </p:txBody>
      </p:sp>
      <p:sp>
        <p:nvSpPr>
          <p:cNvPr id="12" name="Text 10"/>
          <p:cNvSpPr/>
          <p:nvPr/>
        </p:nvSpPr>
        <p:spPr>
          <a:xfrm>
            <a:off x="6583680" y="2926080"/>
            <a:ext cx="4754880" cy="548640"/>
          </a:xfrm>
          <a:prstGeom prst="rect">
            <a:avLst/>
          </a:prstGeom>
          <a:noFill/>
          <a:ln/>
        </p:spPr>
        <p:txBody>
          <a:bodyPr wrap="square" lIns="0" tIns="0" rIns="0" bIns="0" rtlCol="0" anchor="ctr"/>
          <a:lstStyle/>
          <a:p>
            <a:pPr indent="0" marL="0">
              <a:buNone/>
            </a:pPr>
            <a:r>
              <a:rPr lang="en-US" sz="1200" b="1" dirty="0">
                <a:solidFill>
                  <a:srgbClr val="1F2B30"/>
                </a:solidFill>
                <a:latin typeface="Calibri" pitchFamily="34" charset="0"/>
                <a:ea typeface="Calibri" pitchFamily="34" charset="-122"/>
                <a:cs typeface="Calibri" pitchFamily="34" charset="-120"/>
              </a:rPr>
              <a:t>Desglose completo antes de pagar y política de 24 horas publicada en los términos.</a:t>
            </a:r>
            <a:endParaRPr lang="en-US" sz="1200" dirty="0"/>
          </a:p>
        </p:txBody>
      </p:sp>
      <p:sp>
        <p:nvSpPr>
          <p:cNvPr id="13" name="Shape 11"/>
          <p:cNvSpPr/>
          <p:nvPr/>
        </p:nvSpPr>
        <p:spPr>
          <a:xfrm>
            <a:off x="594360" y="3931920"/>
            <a:ext cx="5394960" cy="2057400"/>
          </a:xfrm>
          <a:prstGeom prst="roundRect">
            <a:avLst>
              <a:gd name="adj" fmla="val 5333"/>
            </a:avLst>
          </a:prstGeom>
          <a:solidFill>
            <a:srgbClr val="F4F8F5"/>
          </a:solidFill>
          <a:ln w="12700">
            <a:solidFill>
              <a:srgbClr val="E2EAE5"/>
            </a:solidFill>
            <a:prstDash val="solid"/>
          </a:ln>
        </p:spPr>
      </p:sp>
      <p:sp>
        <p:nvSpPr>
          <p:cNvPr id="14" name="Text 12"/>
          <p:cNvSpPr/>
          <p:nvPr/>
        </p:nvSpPr>
        <p:spPr>
          <a:xfrm>
            <a:off x="914400" y="4133088"/>
            <a:ext cx="3657600" cy="32004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Impuesto sobre ventas</a:t>
            </a:r>
            <a:endParaRPr lang="en-US" sz="1600" dirty="0"/>
          </a:p>
        </p:txBody>
      </p:sp>
      <p:sp>
        <p:nvSpPr>
          <p:cNvPr id="15" name="Text 13"/>
          <p:cNvSpPr/>
          <p:nvPr/>
        </p:nvSpPr>
        <p:spPr>
          <a:xfrm>
            <a:off x="914400" y="4480560"/>
            <a:ext cx="4754880" cy="274320"/>
          </a:xfrm>
          <a:prstGeom prst="rect">
            <a:avLst/>
          </a:prstGeom>
          <a:noFill/>
          <a:ln/>
        </p:spPr>
        <p:txBody>
          <a:bodyPr wrap="square" lIns="0" tIns="0" rIns="0" bIns="0" rtlCol="0" anchor="ctr"/>
          <a:lstStyle/>
          <a:p>
            <a:pPr indent="0" marL="0">
              <a:buNone/>
            </a:pPr>
            <a:r>
              <a:rPr lang="en-US" sz="1150" dirty="0">
                <a:solidFill>
                  <a:srgbClr val="0F7A37"/>
                </a:solidFill>
                <a:latin typeface="Calibri" pitchFamily="34" charset="0"/>
                <a:ea typeface="Calibri" pitchFamily="34" charset="-122"/>
                <a:cs typeface="Calibri" pitchFamily="34" charset="-120"/>
              </a:rPr>
              <a:t>Tasa general 15 %</a:t>
            </a:r>
            <a:endParaRPr lang="en-US" sz="1150" dirty="0"/>
          </a:p>
        </p:txBody>
      </p:sp>
      <p:sp>
        <p:nvSpPr>
          <p:cNvPr id="16" name="Text 14"/>
          <p:cNvSpPr/>
          <p:nvPr/>
        </p:nvSpPr>
        <p:spPr>
          <a:xfrm>
            <a:off x="914400" y="4800600"/>
            <a:ext cx="4754880" cy="5029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Cobrar y desglosar el impuesto correctamente.</a:t>
            </a:r>
            <a:endParaRPr lang="en-US" sz="1200" dirty="0"/>
          </a:p>
        </p:txBody>
      </p:sp>
      <p:sp>
        <p:nvSpPr>
          <p:cNvPr id="17" name="Text 15"/>
          <p:cNvSpPr/>
          <p:nvPr/>
        </p:nvSpPr>
        <p:spPr>
          <a:xfrm>
            <a:off x="914400" y="5303520"/>
            <a:ext cx="4754880" cy="548640"/>
          </a:xfrm>
          <a:prstGeom prst="rect">
            <a:avLst/>
          </a:prstGeom>
          <a:noFill/>
          <a:ln/>
        </p:spPr>
        <p:txBody>
          <a:bodyPr wrap="square" lIns="0" tIns="0" rIns="0" bIns="0" rtlCol="0" anchor="ctr"/>
          <a:lstStyle/>
          <a:p>
            <a:pPr indent="0" marL="0">
              <a:buNone/>
            </a:pPr>
            <a:r>
              <a:rPr lang="en-US" sz="1200" b="1" dirty="0">
                <a:solidFill>
                  <a:srgbClr val="1F2B30"/>
                </a:solidFill>
                <a:latin typeface="Calibri" pitchFamily="34" charset="0"/>
                <a:ea typeface="Calibri" pitchFamily="34" charset="-122"/>
                <a:cs typeface="Calibri" pitchFamily="34" charset="-120"/>
              </a:rPr>
              <a:t>Se calcula sobre la base gravable y se muestra como línea aparte en carrito, pago y comprobante.</a:t>
            </a:r>
            <a:endParaRPr lang="en-US" sz="1200" dirty="0"/>
          </a:p>
        </p:txBody>
      </p:sp>
      <p:sp>
        <p:nvSpPr>
          <p:cNvPr id="18" name="Shape 16"/>
          <p:cNvSpPr/>
          <p:nvPr/>
        </p:nvSpPr>
        <p:spPr>
          <a:xfrm>
            <a:off x="6263640" y="3931920"/>
            <a:ext cx="5394960" cy="2057400"/>
          </a:xfrm>
          <a:prstGeom prst="roundRect">
            <a:avLst>
              <a:gd name="adj" fmla="val 5333"/>
            </a:avLst>
          </a:prstGeom>
          <a:solidFill>
            <a:srgbClr val="F4F8F5"/>
          </a:solidFill>
          <a:ln w="12700">
            <a:solidFill>
              <a:srgbClr val="E2EAE5"/>
            </a:solidFill>
            <a:prstDash val="solid"/>
          </a:ln>
        </p:spPr>
      </p:sp>
      <p:sp>
        <p:nvSpPr>
          <p:cNvPr id="19" name="Text 17"/>
          <p:cNvSpPr/>
          <p:nvPr/>
        </p:nvSpPr>
        <p:spPr>
          <a:xfrm>
            <a:off x="6583680" y="4133088"/>
            <a:ext cx="3657600" cy="320040"/>
          </a:xfrm>
          <a:prstGeom prst="rect">
            <a:avLst/>
          </a:prstGeom>
          <a:noFill/>
          <a:ln/>
        </p:spPr>
        <p:txBody>
          <a:bodyPr wrap="square" lIns="0" tIns="0" rIns="0" bIns="0" rtlCol="0" anchor="ctr"/>
          <a:lstStyle/>
          <a:p>
            <a:pPr indent="0" marL="0">
              <a:buNone/>
            </a:pPr>
            <a:r>
              <a:rPr lang="en-US" sz="1600" b="1" dirty="0">
                <a:solidFill>
                  <a:srgbClr val="0A1C24"/>
                </a:solidFill>
                <a:latin typeface="Calibri" pitchFamily="34" charset="0"/>
                <a:ea typeface="Calibri" pitchFamily="34" charset="-122"/>
                <a:cs typeface="Calibri" pitchFamily="34" charset="-120"/>
              </a:rPr>
              <a:t>Datos personales</a:t>
            </a:r>
            <a:endParaRPr lang="en-US" sz="1600" dirty="0"/>
          </a:p>
        </p:txBody>
      </p:sp>
      <p:sp>
        <p:nvSpPr>
          <p:cNvPr id="20" name="Text 18"/>
          <p:cNvSpPr/>
          <p:nvPr/>
        </p:nvSpPr>
        <p:spPr>
          <a:xfrm>
            <a:off x="6583680" y="4480560"/>
            <a:ext cx="4754880" cy="274320"/>
          </a:xfrm>
          <a:prstGeom prst="rect">
            <a:avLst/>
          </a:prstGeom>
          <a:noFill/>
          <a:ln/>
        </p:spPr>
        <p:txBody>
          <a:bodyPr wrap="square" lIns="0" tIns="0" rIns="0" bIns="0" rtlCol="0" anchor="ctr"/>
          <a:lstStyle/>
          <a:p>
            <a:pPr indent="0" marL="0">
              <a:buNone/>
            </a:pPr>
            <a:r>
              <a:rPr lang="en-US" sz="1150" dirty="0">
                <a:solidFill>
                  <a:srgbClr val="0F7A37"/>
                </a:solidFill>
                <a:latin typeface="Calibri" pitchFamily="34" charset="0"/>
                <a:ea typeface="Calibri" pitchFamily="34" charset="-122"/>
                <a:cs typeface="Calibri" pitchFamily="34" charset="-120"/>
              </a:rPr>
              <a:t>Habeas data constitucional</a:t>
            </a:r>
            <a:endParaRPr lang="en-US" sz="1150" dirty="0"/>
          </a:p>
        </p:txBody>
      </p:sp>
      <p:sp>
        <p:nvSpPr>
          <p:cNvPr id="21" name="Text 19"/>
          <p:cNvSpPr/>
          <p:nvPr/>
        </p:nvSpPr>
        <p:spPr>
          <a:xfrm>
            <a:off x="6583680" y="4800600"/>
            <a:ext cx="4754880" cy="502920"/>
          </a:xfrm>
          <a:prstGeom prst="rect">
            <a:avLst/>
          </a:prstGeom>
          <a:noFill/>
          <a:ln/>
        </p:spPr>
        <p:txBody>
          <a:bodyPr wrap="square" lIns="0" tIns="0" rIns="0" bIns="0" rtlCol="0" anchor="ctr"/>
          <a:lstStyle/>
          <a:p>
            <a:pPr indent="0" marL="0">
              <a:buNone/>
            </a:pPr>
            <a:r>
              <a:rPr lang="en-US" sz="1200" dirty="0">
                <a:solidFill>
                  <a:srgbClr val="55656C"/>
                </a:solidFill>
                <a:latin typeface="Calibri" pitchFamily="34" charset="0"/>
                <a:ea typeface="Calibri" pitchFamily="34" charset="-122"/>
                <a:cs typeface="Calibri" pitchFamily="34" charset="-120"/>
              </a:rPr>
              <a:t>Pedir solo lo necesario, decir para qué se usa y protegerlo.</a:t>
            </a:r>
            <a:endParaRPr lang="en-US" sz="1200" dirty="0"/>
          </a:p>
        </p:txBody>
      </p:sp>
      <p:sp>
        <p:nvSpPr>
          <p:cNvPr id="22" name="Text 20"/>
          <p:cNvSpPr/>
          <p:nvPr/>
        </p:nvSpPr>
        <p:spPr>
          <a:xfrm>
            <a:off x="6583680" y="5303520"/>
            <a:ext cx="4754880" cy="548640"/>
          </a:xfrm>
          <a:prstGeom prst="rect">
            <a:avLst/>
          </a:prstGeom>
          <a:noFill/>
          <a:ln/>
        </p:spPr>
        <p:txBody>
          <a:bodyPr wrap="square" lIns="0" tIns="0" rIns="0" bIns="0" rtlCol="0" anchor="ctr"/>
          <a:lstStyle/>
          <a:p>
            <a:pPr indent="0" marL="0">
              <a:buNone/>
            </a:pPr>
            <a:r>
              <a:rPr lang="en-US" sz="1200" b="1" dirty="0">
                <a:solidFill>
                  <a:srgbClr val="1F2B30"/>
                </a:solidFill>
                <a:latin typeface="Calibri" pitchFamily="34" charset="0"/>
                <a:ea typeface="Calibri" pitchFamily="34" charset="-122"/>
                <a:cs typeface="Calibri" pitchFamily="34" charset="-120"/>
              </a:rPr>
              <a:t>Nombre, correo y teléfono; acceso restringido por las reglas y todo el sitio cifrado con HTTPS.</a:t>
            </a:r>
            <a:endParaRPr lang="en-US" sz="1200" dirty="0"/>
          </a:p>
        </p:txBody>
      </p:sp>
      <p:sp>
        <p:nvSpPr>
          <p:cNvPr id="23" name="Text 21"/>
          <p:cNvSpPr/>
          <p:nvPr/>
        </p:nvSpPr>
        <p:spPr>
          <a:xfrm>
            <a:off x="594360" y="6217920"/>
            <a:ext cx="10972800" cy="457200"/>
          </a:xfrm>
          <a:prstGeom prst="rect">
            <a:avLst/>
          </a:prstGeom>
          <a:noFill/>
          <a:ln/>
        </p:spPr>
        <p:txBody>
          <a:bodyPr wrap="square" lIns="0" tIns="0" rIns="0" bIns="0" rtlCol="0" anchor="ctr"/>
          <a:lstStyle/>
          <a:p>
            <a:pPr indent="0" marL="0">
              <a:buNone/>
            </a:pPr>
            <a:r>
              <a:rPr lang="en-US" sz="1250" i="1" dirty="0">
                <a:solidFill>
                  <a:srgbClr val="55656C"/>
                </a:solidFill>
                <a:latin typeface="Calibri" pitchFamily="34" charset="0"/>
                <a:ea typeface="Calibri" pitchFamily="34" charset="-122"/>
                <a:cs typeface="Calibri" pitchFamily="34" charset="-120"/>
              </a:rPr>
              <a:t>El comprobante del sitio no es una factura fiscal: eso exige la clave de autorización de la SAR, y así está señalado en la documentación.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No lo decimos: está comprobado</a:t>
            </a:r>
            <a:endParaRPr lang="en-US" sz="3400" dirty="0"/>
          </a:p>
        </p:txBody>
      </p:sp>
      <p:sp>
        <p:nvSpPr>
          <p:cNvPr id="3" name="Shape 1"/>
          <p:cNvSpPr/>
          <p:nvPr/>
        </p:nvSpPr>
        <p:spPr>
          <a:xfrm>
            <a:off x="594360" y="1691640"/>
            <a:ext cx="3291840" cy="3566160"/>
          </a:xfrm>
          <a:prstGeom prst="roundRect">
            <a:avLst>
              <a:gd name="adj" fmla="val 3333"/>
            </a:avLst>
          </a:prstGeom>
          <a:solidFill>
            <a:srgbClr val="0A1C24"/>
          </a:solidFill>
          <a:ln w="12700">
            <a:solidFill>
              <a:srgbClr val="0A1C24"/>
            </a:solidFill>
            <a:prstDash val="solid"/>
          </a:ln>
        </p:spPr>
      </p:sp>
      <p:sp>
        <p:nvSpPr>
          <p:cNvPr id="4" name="Text 2"/>
          <p:cNvSpPr/>
          <p:nvPr/>
        </p:nvSpPr>
        <p:spPr>
          <a:xfrm>
            <a:off x="594360" y="2103120"/>
            <a:ext cx="3291840" cy="1371600"/>
          </a:xfrm>
          <a:prstGeom prst="rect">
            <a:avLst/>
          </a:prstGeom>
          <a:noFill/>
          <a:ln/>
        </p:spPr>
        <p:txBody>
          <a:bodyPr wrap="square" lIns="0" tIns="0" rIns="0" bIns="0" rtlCol="0" anchor="ctr"/>
          <a:lstStyle/>
          <a:p>
            <a:pPr algn="ctr" indent="0" marL="0">
              <a:buNone/>
            </a:pPr>
            <a:r>
              <a:rPr lang="en-US" sz="8400" b="1" dirty="0">
                <a:solidFill>
                  <a:srgbClr val="A3E635"/>
                </a:solidFill>
                <a:latin typeface="Calibri" pitchFamily="34" charset="0"/>
                <a:ea typeface="Calibri" pitchFamily="34" charset="-122"/>
                <a:cs typeface="Calibri" pitchFamily="34" charset="-120"/>
              </a:rPr>
              <a:t>21</a:t>
            </a:r>
            <a:endParaRPr lang="en-US" sz="8400" dirty="0"/>
          </a:p>
        </p:txBody>
      </p:sp>
      <p:sp>
        <p:nvSpPr>
          <p:cNvPr id="5" name="Text 3"/>
          <p:cNvSpPr/>
          <p:nvPr/>
        </p:nvSpPr>
        <p:spPr>
          <a:xfrm>
            <a:off x="594360" y="3429000"/>
            <a:ext cx="3291840" cy="82296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comprobaciones</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automáticas</a:t>
            </a:r>
            <a:endParaRPr lang="en-US" sz="1500" dirty="0"/>
          </a:p>
        </p:txBody>
      </p:sp>
      <p:sp>
        <p:nvSpPr>
          <p:cNvPr id="6" name="Text 4"/>
          <p:cNvSpPr/>
          <p:nvPr/>
        </p:nvSpPr>
        <p:spPr>
          <a:xfrm>
            <a:off x="594360" y="4297680"/>
            <a:ext cx="3291840" cy="365760"/>
          </a:xfrm>
          <a:prstGeom prst="rect">
            <a:avLst/>
          </a:prstGeom>
          <a:noFill/>
          <a:ln/>
        </p:spPr>
        <p:txBody>
          <a:bodyPr wrap="square" lIns="0" tIns="0" rIns="0" bIns="0" rtlCol="0" anchor="ctr"/>
          <a:lstStyle/>
          <a:p>
            <a:pPr algn="ctr" indent="0" marL="0">
              <a:buNone/>
            </a:pPr>
            <a:r>
              <a:rPr lang="en-US" sz="1250" dirty="0">
                <a:solidFill>
                  <a:srgbClr val="9DB3AA"/>
                </a:solidFill>
                <a:latin typeface="Calibri" pitchFamily="34" charset="0"/>
                <a:ea typeface="Calibri" pitchFamily="34" charset="-122"/>
                <a:cs typeface="Calibri" pitchFamily="34" charset="-120"/>
              </a:rPr>
              <a:t>en un navegador real</a:t>
            </a:r>
            <a:endParaRPr lang="en-US" sz="1250" dirty="0"/>
          </a:p>
        </p:txBody>
      </p:sp>
      <p:sp>
        <p:nvSpPr>
          <p:cNvPr id="7" name="Shape 5"/>
          <p:cNvSpPr/>
          <p:nvPr/>
        </p:nvSpPr>
        <p:spPr>
          <a:xfrm>
            <a:off x="4206240" y="1737360"/>
            <a:ext cx="274320" cy="274320"/>
          </a:xfrm>
          <a:prstGeom prst="ellipse">
            <a:avLst/>
          </a:prstGeom>
          <a:solidFill>
            <a:srgbClr val="16A34A"/>
          </a:solidFill>
          <a:ln/>
        </p:spPr>
      </p:sp>
      <p:sp>
        <p:nvSpPr>
          <p:cNvPr id="8" name="Text 6"/>
          <p:cNvSpPr/>
          <p:nvPr/>
        </p:nvSpPr>
        <p:spPr>
          <a:xfrm>
            <a:off x="4206240" y="1737360"/>
            <a:ext cx="274320" cy="274320"/>
          </a:xfrm>
          <a:prstGeom prst="rect">
            <a:avLst/>
          </a:prstGeom>
          <a:noFill/>
          <a:ln/>
        </p:spPr>
        <p:txBody>
          <a:bodyPr wrap="square" lIns="0" tIns="0" rIns="0" bIns="0" rtlCol="0" anchor="ctr"/>
          <a:lstStyle/>
          <a:p>
            <a:pPr algn="ctr" indent="0" marL="0">
              <a:buNone/>
            </a:pPr>
            <a:endParaRPr lang="en-US" sz="1600" dirty="0"/>
          </a:p>
        </p:txBody>
      </p:sp>
      <p:sp>
        <p:nvSpPr>
          <p:cNvPr id="9" name="Text 7"/>
          <p:cNvSpPr/>
          <p:nvPr/>
        </p:nvSpPr>
        <p:spPr>
          <a:xfrm>
            <a:off x="4663440" y="168249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Carga</a:t>
            </a:r>
            <a:endParaRPr lang="en-US" sz="1400" dirty="0"/>
          </a:p>
        </p:txBody>
      </p:sp>
      <p:sp>
        <p:nvSpPr>
          <p:cNvPr id="10" name="Text 8"/>
          <p:cNvSpPr/>
          <p:nvPr/>
        </p:nvSpPr>
        <p:spPr>
          <a:xfrm>
            <a:off x="6035040" y="168249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todas las páginas abran sin errores.</a:t>
            </a:r>
            <a:endParaRPr lang="en-US" sz="1250" dirty="0"/>
          </a:p>
        </p:txBody>
      </p:sp>
      <p:sp>
        <p:nvSpPr>
          <p:cNvPr id="11" name="Shape 9"/>
          <p:cNvSpPr/>
          <p:nvPr/>
        </p:nvSpPr>
        <p:spPr>
          <a:xfrm>
            <a:off x="4206240" y="2331720"/>
            <a:ext cx="274320" cy="274320"/>
          </a:xfrm>
          <a:prstGeom prst="ellipse">
            <a:avLst/>
          </a:prstGeom>
          <a:solidFill>
            <a:srgbClr val="16A34A"/>
          </a:solidFill>
          <a:ln/>
        </p:spPr>
      </p:sp>
      <p:sp>
        <p:nvSpPr>
          <p:cNvPr id="12" name="Text 10"/>
          <p:cNvSpPr/>
          <p:nvPr/>
        </p:nvSpPr>
        <p:spPr>
          <a:xfrm>
            <a:off x="4206240" y="2331720"/>
            <a:ext cx="274320" cy="274320"/>
          </a:xfrm>
          <a:prstGeom prst="rect">
            <a:avLst/>
          </a:prstGeom>
          <a:noFill/>
          <a:ln/>
        </p:spPr>
        <p:txBody>
          <a:bodyPr wrap="square" lIns="0" tIns="0" rIns="0" bIns="0" rtlCol="0" anchor="ctr"/>
          <a:lstStyle/>
          <a:p>
            <a:pPr algn="ctr" indent="0" marL="0">
              <a:buNone/>
            </a:pPr>
            <a:endParaRPr lang="en-US" sz="1600" dirty="0"/>
          </a:p>
        </p:txBody>
      </p:sp>
      <p:sp>
        <p:nvSpPr>
          <p:cNvPr id="13" name="Text 11"/>
          <p:cNvSpPr/>
          <p:nvPr/>
        </p:nvSpPr>
        <p:spPr>
          <a:xfrm>
            <a:off x="4663440" y="227685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Carrito</a:t>
            </a:r>
            <a:endParaRPr lang="en-US" sz="1400" dirty="0"/>
          </a:p>
        </p:txBody>
      </p:sp>
      <p:sp>
        <p:nvSpPr>
          <p:cNvPr id="14" name="Text 12"/>
          <p:cNvSpPr/>
          <p:nvPr/>
        </p:nvSpPr>
        <p:spPr>
          <a:xfrm>
            <a:off x="6035040" y="227685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las cuentas con cupón e impuesto cuadren.</a:t>
            </a:r>
            <a:endParaRPr lang="en-US" sz="1250" dirty="0"/>
          </a:p>
        </p:txBody>
      </p:sp>
      <p:sp>
        <p:nvSpPr>
          <p:cNvPr id="15" name="Shape 13"/>
          <p:cNvSpPr/>
          <p:nvPr/>
        </p:nvSpPr>
        <p:spPr>
          <a:xfrm>
            <a:off x="4206240" y="2926080"/>
            <a:ext cx="274320" cy="274320"/>
          </a:xfrm>
          <a:prstGeom prst="ellipse">
            <a:avLst/>
          </a:prstGeom>
          <a:solidFill>
            <a:srgbClr val="16A34A"/>
          </a:solidFill>
          <a:ln/>
        </p:spPr>
      </p:sp>
      <p:sp>
        <p:nvSpPr>
          <p:cNvPr id="16" name="Text 14"/>
          <p:cNvSpPr/>
          <p:nvPr/>
        </p:nvSpPr>
        <p:spPr>
          <a:xfrm>
            <a:off x="4206240" y="2926080"/>
            <a:ext cx="274320" cy="274320"/>
          </a:xfrm>
          <a:prstGeom prst="rect">
            <a:avLst/>
          </a:prstGeom>
          <a:noFill/>
          <a:ln/>
        </p:spPr>
        <p:txBody>
          <a:bodyPr wrap="square" lIns="0" tIns="0" rIns="0" bIns="0" rtlCol="0" anchor="ctr"/>
          <a:lstStyle/>
          <a:p>
            <a:pPr algn="ctr" indent="0" marL="0">
              <a:buNone/>
            </a:pPr>
            <a:endParaRPr lang="en-US" sz="1600" dirty="0"/>
          </a:p>
        </p:txBody>
      </p:sp>
      <p:sp>
        <p:nvSpPr>
          <p:cNvPr id="17" name="Text 15"/>
          <p:cNvSpPr/>
          <p:nvPr/>
        </p:nvSpPr>
        <p:spPr>
          <a:xfrm>
            <a:off x="4663440" y="287121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Horarios</a:t>
            </a:r>
            <a:endParaRPr lang="en-US" sz="1400" dirty="0"/>
          </a:p>
        </p:txBody>
      </p:sp>
      <p:sp>
        <p:nvSpPr>
          <p:cNvPr id="18" name="Text 16"/>
          <p:cNvSpPr/>
          <p:nvPr/>
        </p:nvSpPr>
        <p:spPr>
          <a:xfrm>
            <a:off x="6035040" y="287121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la disponibilidad use la hora de Honduras.</a:t>
            </a:r>
            <a:endParaRPr lang="en-US" sz="1250" dirty="0"/>
          </a:p>
        </p:txBody>
      </p:sp>
      <p:sp>
        <p:nvSpPr>
          <p:cNvPr id="19" name="Shape 17"/>
          <p:cNvSpPr/>
          <p:nvPr/>
        </p:nvSpPr>
        <p:spPr>
          <a:xfrm>
            <a:off x="4206240" y="3520440"/>
            <a:ext cx="274320" cy="274320"/>
          </a:xfrm>
          <a:prstGeom prst="ellipse">
            <a:avLst/>
          </a:prstGeom>
          <a:solidFill>
            <a:srgbClr val="16A34A"/>
          </a:solidFill>
          <a:ln/>
        </p:spPr>
      </p:sp>
      <p:sp>
        <p:nvSpPr>
          <p:cNvPr id="20" name="Text 18"/>
          <p:cNvSpPr/>
          <p:nvPr/>
        </p:nvSpPr>
        <p:spPr>
          <a:xfrm>
            <a:off x="4206240" y="3520440"/>
            <a:ext cx="274320" cy="274320"/>
          </a:xfrm>
          <a:prstGeom prst="rect">
            <a:avLst/>
          </a:prstGeom>
          <a:noFill/>
          <a:ln/>
        </p:spPr>
        <p:txBody>
          <a:bodyPr wrap="square" lIns="0" tIns="0" rIns="0" bIns="0" rtlCol="0" anchor="ctr"/>
          <a:lstStyle/>
          <a:p>
            <a:pPr algn="ctr" indent="0" marL="0">
              <a:buNone/>
            </a:pPr>
            <a:endParaRPr lang="en-US" sz="1600" dirty="0"/>
          </a:p>
        </p:txBody>
      </p:sp>
      <p:sp>
        <p:nvSpPr>
          <p:cNvPr id="21" name="Text 19"/>
          <p:cNvSpPr/>
          <p:nvPr/>
        </p:nvSpPr>
        <p:spPr>
          <a:xfrm>
            <a:off x="4663440" y="346557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Reserva</a:t>
            </a:r>
            <a:endParaRPr lang="en-US" sz="1400" dirty="0"/>
          </a:p>
        </p:txBody>
      </p:sp>
      <p:sp>
        <p:nvSpPr>
          <p:cNvPr id="22" name="Text 20"/>
          <p:cNvSpPr/>
          <p:nvPr/>
        </p:nvSpPr>
        <p:spPr>
          <a:xfrm>
            <a:off x="6035040" y="346557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no se pierda una reserva ni se dé por hecha sin conexión.</a:t>
            </a:r>
            <a:endParaRPr lang="en-US" sz="1250" dirty="0"/>
          </a:p>
        </p:txBody>
      </p:sp>
      <p:sp>
        <p:nvSpPr>
          <p:cNvPr id="23" name="Shape 21"/>
          <p:cNvSpPr/>
          <p:nvPr/>
        </p:nvSpPr>
        <p:spPr>
          <a:xfrm>
            <a:off x="4206240" y="4114800"/>
            <a:ext cx="274320" cy="274320"/>
          </a:xfrm>
          <a:prstGeom prst="ellipse">
            <a:avLst/>
          </a:prstGeom>
          <a:solidFill>
            <a:srgbClr val="16A34A"/>
          </a:solidFill>
          <a:ln/>
        </p:spPr>
      </p:sp>
      <p:sp>
        <p:nvSpPr>
          <p:cNvPr id="24" name="Text 22"/>
          <p:cNvSpPr/>
          <p:nvPr/>
        </p:nvSpPr>
        <p:spPr>
          <a:xfrm>
            <a:off x="4206240" y="4114800"/>
            <a:ext cx="274320" cy="274320"/>
          </a:xfrm>
          <a:prstGeom prst="rect">
            <a:avLst/>
          </a:prstGeom>
          <a:noFill/>
          <a:ln/>
        </p:spPr>
        <p:txBody>
          <a:bodyPr wrap="square" lIns="0" tIns="0" rIns="0" bIns="0" rtlCol="0" anchor="ctr"/>
          <a:lstStyle/>
          <a:p>
            <a:pPr algn="ctr" indent="0" marL="0">
              <a:buNone/>
            </a:pPr>
            <a:endParaRPr lang="en-US" sz="1600" dirty="0"/>
          </a:p>
        </p:txBody>
      </p:sp>
      <p:sp>
        <p:nvSpPr>
          <p:cNvPr id="25" name="Text 23"/>
          <p:cNvSpPr/>
          <p:nvPr/>
        </p:nvSpPr>
        <p:spPr>
          <a:xfrm>
            <a:off x="4663440" y="405993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Panel</a:t>
            </a:r>
            <a:endParaRPr lang="en-US" sz="1400" dirty="0"/>
          </a:p>
        </p:txBody>
      </p:sp>
      <p:sp>
        <p:nvSpPr>
          <p:cNvPr id="26" name="Text 24"/>
          <p:cNvSpPr/>
          <p:nvPr/>
        </p:nvSpPr>
        <p:spPr>
          <a:xfrm>
            <a:off x="6035040" y="405993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cancelar y reactivar liberen la cancha correcta.</a:t>
            </a:r>
            <a:endParaRPr lang="en-US" sz="1250" dirty="0"/>
          </a:p>
        </p:txBody>
      </p:sp>
      <p:sp>
        <p:nvSpPr>
          <p:cNvPr id="27" name="Shape 25"/>
          <p:cNvSpPr/>
          <p:nvPr/>
        </p:nvSpPr>
        <p:spPr>
          <a:xfrm>
            <a:off x="4206240" y="4709160"/>
            <a:ext cx="274320" cy="274320"/>
          </a:xfrm>
          <a:prstGeom prst="ellipse">
            <a:avLst/>
          </a:prstGeom>
          <a:solidFill>
            <a:srgbClr val="16A34A"/>
          </a:solidFill>
          <a:ln/>
        </p:spPr>
      </p:sp>
      <p:sp>
        <p:nvSpPr>
          <p:cNvPr id="28" name="Text 26"/>
          <p:cNvSpPr/>
          <p:nvPr/>
        </p:nvSpPr>
        <p:spPr>
          <a:xfrm>
            <a:off x="4206240" y="4709160"/>
            <a:ext cx="274320" cy="274320"/>
          </a:xfrm>
          <a:prstGeom prst="rect">
            <a:avLst/>
          </a:prstGeom>
          <a:noFill/>
          <a:ln/>
        </p:spPr>
        <p:txBody>
          <a:bodyPr wrap="square" lIns="0" tIns="0" rIns="0" bIns="0" rtlCol="0" anchor="ctr"/>
          <a:lstStyle/>
          <a:p>
            <a:pPr algn="ctr" indent="0" marL="0">
              <a:buNone/>
            </a:pPr>
            <a:endParaRPr lang="en-US" sz="1600" dirty="0"/>
          </a:p>
        </p:txBody>
      </p:sp>
      <p:sp>
        <p:nvSpPr>
          <p:cNvPr id="29" name="Text 27"/>
          <p:cNvSpPr/>
          <p:nvPr/>
        </p:nvSpPr>
        <p:spPr>
          <a:xfrm>
            <a:off x="4663440" y="4654296"/>
            <a:ext cx="1463040" cy="365760"/>
          </a:xfrm>
          <a:prstGeom prst="rect">
            <a:avLst/>
          </a:prstGeom>
          <a:noFill/>
          <a:ln/>
        </p:spPr>
        <p:txBody>
          <a:bodyPr wrap="square" lIns="0" tIns="0" rIns="0" bIns="0" rtlCol="0" anchor="ctr"/>
          <a:lstStyle/>
          <a:p>
            <a:pPr indent="0" marL="0">
              <a:buNone/>
            </a:pPr>
            <a:r>
              <a:rPr lang="en-US" sz="1400" b="1" dirty="0">
                <a:solidFill>
                  <a:srgbClr val="0A1C24"/>
                </a:solidFill>
                <a:latin typeface="Calibri" pitchFamily="34" charset="0"/>
                <a:ea typeface="Calibri" pitchFamily="34" charset="-122"/>
                <a:cs typeface="Calibri" pitchFamily="34" charset="-120"/>
              </a:rPr>
              <a:t>Pantallas</a:t>
            </a:r>
            <a:endParaRPr lang="en-US" sz="1400" dirty="0"/>
          </a:p>
        </p:txBody>
      </p:sp>
      <p:sp>
        <p:nvSpPr>
          <p:cNvPr id="30" name="Text 28"/>
          <p:cNvSpPr/>
          <p:nvPr/>
        </p:nvSpPr>
        <p:spPr>
          <a:xfrm>
            <a:off x="6035040" y="4654296"/>
            <a:ext cx="5486400" cy="36576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Que nada se desborde en celular, tableta ni computadora.</a:t>
            </a:r>
            <a:endParaRPr lang="en-US" sz="1250" dirty="0"/>
          </a:p>
        </p:txBody>
      </p:sp>
      <p:sp>
        <p:nvSpPr>
          <p:cNvPr id="31" name="Text 29"/>
          <p:cNvSpPr/>
          <p:nvPr/>
        </p:nvSpPr>
        <p:spPr>
          <a:xfrm>
            <a:off x="4206240" y="5486400"/>
            <a:ext cx="7315200" cy="457200"/>
          </a:xfrm>
          <a:prstGeom prst="rect">
            <a:avLst/>
          </a:prstGeom>
          <a:noFill/>
          <a:ln/>
        </p:spPr>
        <p:txBody>
          <a:bodyPr wrap="square" lIns="0" tIns="0" rIns="0" bIns="0" rtlCol="0" anchor="ctr"/>
          <a:lstStyle/>
          <a:p>
            <a:pPr indent="0" marL="0">
              <a:buNone/>
            </a:pPr>
            <a:r>
              <a:rPr lang="en-US" sz="1300" i="1" dirty="0">
                <a:solidFill>
                  <a:srgbClr val="0A1C24"/>
                </a:solidFill>
                <a:latin typeface="Calibri" pitchFamily="34" charset="0"/>
                <a:ea typeface="Calibri" pitchFamily="34" charset="-122"/>
                <a:cs typeface="Calibri" pitchFamily="34" charset="-120"/>
              </a:rPr>
              <a:t>Se ejecutan con un comando y no tocan la base de datos real, así que se pueden correr las veces que haga falta.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822960"/>
          </a:xfrm>
          <a:prstGeom prst="rect">
            <a:avLst/>
          </a:prstGeom>
          <a:noFill/>
          <a:ln/>
        </p:spPr>
        <p:txBody>
          <a:bodyPr wrap="square" lIns="0" tIns="0" rIns="0" bIns="0" rtlCol="0" anchor="ctr"/>
          <a:lstStyle/>
          <a:p>
            <a:pPr indent="0" marL="0">
              <a:buNone/>
            </a:pPr>
            <a:r>
              <a:rPr lang="en-US" sz="3400" b="1" dirty="0">
                <a:solidFill>
                  <a:srgbClr val="0A1C24"/>
                </a:solidFill>
                <a:latin typeface="Calibri" pitchFamily="34" charset="0"/>
                <a:ea typeface="Calibri" pitchFamily="34" charset="-122"/>
                <a:cs typeface="Calibri" pitchFamily="34" charset="-120"/>
              </a:rPr>
              <a:t>Qué quedó fuera y por qué</a:t>
            </a:r>
            <a:endParaRPr lang="en-US" sz="3400" dirty="0"/>
          </a:p>
        </p:txBody>
      </p:sp>
      <p:sp>
        <p:nvSpPr>
          <p:cNvPr id="3" name="Text 1"/>
          <p:cNvSpPr/>
          <p:nvPr/>
        </p:nvSpPr>
        <p:spPr>
          <a:xfrm>
            <a:off x="594360" y="1188720"/>
            <a:ext cx="10515600" cy="457200"/>
          </a:xfrm>
          <a:prstGeom prst="rect">
            <a:avLst/>
          </a:prstGeom>
          <a:noFill/>
          <a:ln/>
        </p:spPr>
        <p:txBody>
          <a:bodyPr wrap="square" lIns="0" tIns="0" rIns="0" bIns="0" rtlCol="0" anchor="ctr"/>
          <a:lstStyle/>
          <a:p>
            <a:pPr indent="0" marL="0">
              <a:buNone/>
            </a:pPr>
            <a:r>
              <a:rPr lang="en-US" sz="1500" dirty="0">
                <a:solidFill>
                  <a:srgbClr val="55656C"/>
                </a:solidFill>
                <a:latin typeface="Calibri" pitchFamily="34" charset="0"/>
                <a:ea typeface="Calibri" pitchFamily="34" charset="-122"/>
                <a:cs typeface="Calibri" pitchFamily="34" charset="-120"/>
              </a:rPr>
              <a:t>Decirlo con claridad demuestra que entendemos la diferencia entre un prototipo académico y un sistema en producción.</a:t>
            </a:r>
            <a:endParaRPr lang="en-US" sz="1500" dirty="0"/>
          </a:p>
        </p:txBody>
      </p:sp>
      <p:sp>
        <p:nvSpPr>
          <p:cNvPr id="4" name="Shape 2"/>
          <p:cNvSpPr/>
          <p:nvPr/>
        </p:nvSpPr>
        <p:spPr>
          <a:xfrm>
            <a:off x="594360" y="1920240"/>
            <a:ext cx="10972800" cy="868680"/>
          </a:xfrm>
          <a:prstGeom prst="roundRect">
            <a:avLst>
              <a:gd name="adj" fmla="val 12632"/>
            </a:avLst>
          </a:prstGeom>
          <a:solidFill>
            <a:srgbClr val="F4F8F5"/>
          </a:solidFill>
          <a:ln w="12700">
            <a:solidFill>
              <a:srgbClr val="E2EAE5"/>
            </a:solidFill>
            <a:prstDash val="solid"/>
          </a:ln>
        </p:spPr>
      </p:sp>
      <p:sp>
        <p:nvSpPr>
          <p:cNvPr id="5" name="Text 3"/>
          <p:cNvSpPr/>
          <p:nvPr/>
        </p:nvSpPr>
        <p:spPr>
          <a:xfrm>
            <a:off x="914400" y="2121408"/>
            <a:ext cx="3017520" cy="45720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Cobro real con tarjeta</a:t>
            </a:r>
            <a:endParaRPr lang="en-US" sz="1500" dirty="0"/>
          </a:p>
        </p:txBody>
      </p:sp>
      <p:sp>
        <p:nvSpPr>
          <p:cNvPr id="6" name="Text 4"/>
          <p:cNvSpPr/>
          <p:nvPr/>
        </p:nvSpPr>
        <p:spPr>
          <a:xfrm>
            <a:off x="4023360" y="2121408"/>
            <a:ext cx="7223760" cy="45720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La pasarela está en modo de prueba. Cobrar de verdad exige contrato con el banco y un servidor propio que reciba las notificaciones.</a:t>
            </a:r>
            <a:endParaRPr lang="en-US" sz="1250" dirty="0"/>
          </a:p>
        </p:txBody>
      </p:sp>
      <p:sp>
        <p:nvSpPr>
          <p:cNvPr id="7" name="Shape 5"/>
          <p:cNvSpPr/>
          <p:nvPr/>
        </p:nvSpPr>
        <p:spPr>
          <a:xfrm>
            <a:off x="594360" y="2971800"/>
            <a:ext cx="10972800" cy="868680"/>
          </a:xfrm>
          <a:prstGeom prst="roundRect">
            <a:avLst>
              <a:gd name="adj" fmla="val 12632"/>
            </a:avLst>
          </a:prstGeom>
          <a:solidFill>
            <a:srgbClr val="F4F8F5"/>
          </a:solidFill>
          <a:ln w="12700">
            <a:solidFill>
              <a:srgbClr val="E2EAE5"/>
            </a:solidFill>
            <a:prstDash val="solid"/>
          </a:ln>
        </p:spPr>
      </p:sp>
      <p:sp>
        <p:nvSpPr>
          <p:cNvPr id="8" name="Text 6"/>
          <p:cNvSpPr/>
          <p:nvPr/>
        </p:nvSpPr>
        <p:spPr>
          <a:xfrm>
            <a:off x="914400" y="3172968"/>
            <a:ext cx="3017520" cy="45720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Factura fiscal</a:t>
            </a:r>
            <a:endParaRPr lang="en-US" sz="1500" dirty="0"/>
          </a:p>
        </p:txBody>
      </p:sp>
      <p:sp>
        <p:nvSpPr>
          <p:cNvPr id="9" name="Text 7"/>
          <p:cNvSpPr/>
          <p:nvPr/>
        </p:nvSpPr>
        <p:spPr>
          <a:xfrm>
            <a:off x="4023360" y="3172968"/>
            <a:ext cx="7223760" cy="45720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Requiere la clave de autorización que otorga el Servicio de Administración de Rentas.</a:t>
            </a:r>
            <a:endParaRPr lang="en-US" sz="1250" dirty="0"/>
          </a:p>
        </p:txBody>
      </p:sp>
      <p:sp>
        <p:nvSpPr>
          <p:cNvPr id="10" name="Shape 8"/>
          <p:cNvSpPr/>
          <p:nvPr/>
        </p:nvSpPr>
        <p:spPr>
          <a:xfrm>
            <a:off x="594360" y="4023360"/>
            <a:ext cx="10972800" cy="868680"/>
          </a:xfrm>
          <a:prstGeom prst="roundRect">
            <a:avLst>
              <a:gd name="adj" fmla="val 12632"/>
            </a:avLst>
          </a:prstGeom>
          <a:solidFill>
            <a:srgbClr val="F4F8F5"/>
          </a:solidFill>
          <a:ln w="12700">
            <a:solidFill>
              <a:srgbClr val="E2EAE5"/>
            </a:solidFill>
            <a:prstDash val="solid"/>
          </a:ln>
        </p:spPr>
      </p:sp>
      <p:sp>
        <p:nvSpPr>
          <p:cNvPr id="11" name="Text 9"/>
          <p:cNvSpPr/>
          <p:nvPr/>
        </p:nvSpPr>
        <p:spPr>
          <a:xfrm>
            <a:off x="914400" y="4224528"/>
            <a:ext cx="3017520" cy="45720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Correo automático</a:t>
            </a:r>
            <a:endParaRPr lang="en-US" sz="1500" dirty="0"/>
          </a:p>
        </p:txBody>
      </p:sp>
      <p:sp>
        <p:nvSpPr>
          <p:cNvPr id="12" name="Text 10"/>
          <p:cNvSpPr/>
          <p:nvPr/>
        </p:nvSpPr>
        <p:spPr>
          <a:xfrm>
            <a:off x="4023360" y="4224528"/>
            <a:ext cx="7223760" cy="45720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La confirmación se manda hoy por WhatsApp o por el correo del cliente. El envío automático necesita un servicio con servidor.</a:t>
            </a:r>
            <a:endParaRPr lang="en-US" sz="1250" dirty="0"/>
          </a:p>
        </p:txBody>
      </p:sp>
      <p:sp>
        <p:nvSpPr>
          <p:cNvPr id="13" name="Shape 11"/>
          <p:cNvSpPr/>
          <p:nvPr/>
        </p:nvSpPr>
        <p:spPr>
          <a:xfrm>
            <a:off x="594360" y="5074920"/>
            <a:ext cx="10972800" cy="868680"/>
          </a:xfrm>
          <a:prstGeom prst="roundRect">
            <a:avLst>
              <a:gd name="adj" fmla="val 12632"/>
            </a:avLst>
          </a:prstGeom>
          <a:solidFill>
            <a:srgbClr val="F4F8F5"/>
          </a:solidFill>
          <a:ln w="12700">
            <a:solidFill>
              <a:srgbClr val="E2EAE5"/>
            </a:solidFill>
            <a:prstDash val="solid"/>
          </a:ln>
        </p:spPr>
      </p:sp>
      <p:sp>
        <p:nvSpPr>
          <p:cNvPr id="14" name="Text 12"/>
          <p:cNvSpPr/>
          <p:nvPr/>
        </p:nvSpPr>
        <p:spPr>
          <a:xfrm>
            <a:off x="914400" y="5276088"/>
            <a:ext cx="3017520" cy="457200"/>
          </a:xfrm>
          <a:prstGeom prst="rect">
            <a:avLst/>
          </a:prstGeom>
          <a:noFill/>
          <a:ln/>
        </p:spPr>
        <p:txBody>
          <a:bodyPr wrap="square" lIns="0" tIns="0" rIns="0" bIns="0" rtlCol="0" anchor="ctr"/>
          <a:lstStyle/>
          <a:p>
            <a:pPr indent="0" marL="0">
              <a:buNone/>
            </a:pPr>
            <a:r>
              <a:rPr lang="en-US" sz="1500" b="1" dirty="0">
                <a:solidFill>
                  <a:srgbClr val="0A1C24"/>
                </a:solidFill>
                <a:latin typeface="Calibri" pitchFamily="34" charset="0"/>
                <a:ea typeface="Calibri" pitchFamily="34" charset="-122"/>
                <a:cs typeface="Calibri" pitchFamily="34" charset="-120"/>
              </a:rPr>
              <a:t>Recordatorios y reportes</a:t>
            </a:r>
            <a:endParaRPr lang="en-US" sz="1500" dirty="0"/>
          </a:p>
        </p:txBody>
      </p:sp>
      <p:sp>
        <p:nvSpPr>
          <p:cNvPr id="15" name="Text 13"/>
          <p:cNvSpPr/>
          <p:nvPr/>
        </p:nvSpPr>
        <p:spPr>
          <a:xfrm>
            <a:off x="4023360" y="5276088"/>
            <a:ext cx="7223760" cy="457200"/>
          </a:xfrm>
          <a:prstGeom prst="rect">
            <a:avLst/>
          </a:prstGeom>
          <a:noFill/>
          <a:ln/>
        </p:spPr>
        <p:txBody>
          <a:bodyPr wrap="square" lIns="0" tIns="0" rIns="0" bIns="0" rtlCol="0" anchor="ctr"/>
          <a:lstStyle/>
          <a:p>
            <a:pPr indent="0" marL="0">
              <a:buNone/>
            </a:pPr>
            <a:r>
              <a:rPr lang="en-US" sz="1250" dirty="0">
                <a:solidFill>
                  <a:srgbClr val="55656C"/>
                </a:solidFill>
                <a:latin typeface="Calibri" pitchFamily="34" charset="0"/>
                <a:ea typeface="Calibri" pitchFamily="34" charset="-122"/>
                <a:cs typeface="Calibri" pitchFamily="34" charset="-120"/>
              </a:rPr>
              <a:t>Avisar antes del partido o filtrar ingresos por fechas requiere tareas programadas que un sitio estático no puede ejecutar solo.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C24"/>
        </a:solidFill>
      </p:bgPr>
    </p:bg>
    <p:spTree>
      <p:nvGrpSpPr>
        <p:cNvPr id="1" name=""/>
        <p:cNvGrpSpPr/>
        <p:nvPr/>
      </p:nvGrpSpPr>
      <p:grpSpPr>
        <a:xfrm>
          <a:off x="0" y="0"/>
          <a:ext cx="0" cy="0"/>
          <a:chOff x="0" y="0"/>
          <a:chExt cx="0" cy="0"/>
        </a:xfrm>
      </p:grpSpPr>
      <p:pic>
        <p:nvPicPr>
          <p:cNvPr id="2" name="Image 0" descr="C:/Users/ylime/Documents/gamasport/img/torneo.jpg">    </p:cNvPr>
          <p:cNvPicPr>
            <a:picLocks noChangeAspect="1"/>
          </p:cNvPicPr>
          <p:nvPr/>
        </p:nvPicPr>
        <p:blipFill>
          <a:blip r:embed="rId1">
            <a:alphaModFix amt="45000"/>
          </a:blip>
          <a:stretch>
            <a:fillRect/>
          </a:stretch>
        </p:blipFill>
        <p:spPr>
          <a:xfrm>
            <a:off x="6949440" y="0"/>
            <a:ext cx="5212080" cy="6858000"/>
          </a:xfrm>
          <a:prstGeom prst="rect">
            <a:avLst/>
          </a:prstGeom>
        </p:spPr>
      </p:pic>
      <p:sp>
        <p:nvSpPr>
          <p:cNvPr id="3" name="Text 0"/>
          <p:cNvSpPr/>
          <p:nvPr/>
        </p:nvSpPr>
        <p:spPr>
          <a:xfrm>
            <a:off x="594360" y="822960"/>
            <a:ext cx="109728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El sitio está en línea</a:t>
            </a:r>
            <a:endParaRPr lang="en-US" sz="3400" dirty="0"/>
          </a:p>
        </p:txBody>
      </p:sp>
      <p:sp>
        <p:nvSpPr>
          <p:cNvPr id="4" name="Text 1"/>
          <p:cNvSpPr/>
          <p:nvPr/>
        </p:nvSpPr>
        <p:spPr>
          <a:xfrm>
            <a:off x="594360" y="1737360"/>
            <a:ext cx="6035040" cy="548640"/>
          </a:xfrm>
          <a:prstGeom prst="rect">
            <a:avLst/>
          </a:prstGeom>
          <a:noFill/>
          <a:ln/>
        </p:spPr>
        <p:txBody>
          <a:bodyPr wrap="square" lIns="0" tIns="0" rIns="0" bIns="0" rtlCol="0" anchor="ctr"/>
          <a:lstStyle/>
          <a:p>
            <a:pPr indent="0" marL="0">
              <a:buNone/>
            </a:pPr>
            <a:r>
              <a:rPr lang="en-US" sz="2000" b="1" dirty="0">
                <a:solidFill>
                  <a:srgbClr val="A3E635"/>
                </a:solidFill>
                <a:latin typeface="Calibri" pitchFamily="34" charset="0"/>
                <a:ea typeface="Calibri" pitchFamily="34" charset="-122"/>
                <a:cs typeface="Calibri" pitchFamily="34" charset="-120"/>
              </a:rPr>
              <a:t>ylimecc.github.io/gamasport</a:t>
            </a:r>
            <a:endParaRPr lang="en-US" sz="2000" dirty="0"/>
          </a:p>
        </p:txBody>
      </p:sp>
      <p:sp>
        <p:nvSpPr>
          <p:cNvPr id="5" name="Text 2"/>
          <p:cNvSpPr/>
          <p:nvPr/>
        </p:nvSpPr>
        <p:spPr>
          <a:xfrm>
            <a:off x="594360" y="2743200"/>
            <a:ext cx="60350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Tres respuestas preparadas</a:t>
            </a:r>
            <a:endParaRPr lang="en-US" sz="1600" dirty="0"/>
          </a:p>
        </p:txBody>
      </p:sp>
      <p:sp>
        <p:nvSpPr>
          <p:cNvPr id="6" name="Text 3"/>
          <p:cNvSpPr/>
          <p:nvPr/>
        </p:nvSpPr>
        <p:spPr>
          <a:xfrm>
            <a:off x="594360" y="3246120"/>
            <a:ext cx="6035040" cy="201168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CFE0D8"/>
                </a:solidFill>
                <a:latin typeface="Calibri" pitchFamily="34" charset="0"/>
                <a:ea typeface="Calibri" pitchFamily="34" charset="-122"/>
                <a:cs typeface="Calibri" pitchFamily="34" charset="-120"/>
              </a:rPr>
              <a:t>La clave de Firebase se ve a propósito: la seguridad está en las reglas del servidor.</a:t>
            </a:r>
            <a:endParaRPr lang="en-US" sz="1300" dirty="0"/>
          </a:p>
          <a:p>
            <a:pPr marL="342900" indent="-342900">
              <a:spcAft>
                <a:spcPts val="1200"/>
              </a:spcAft>
              <a:buSzPct val="100000"/>
              <a:buChar char="•"/>
            </a:pPr>
            <a:r>
              <a:rPr lang="en-US" sz="1300" dirty="0">
                <a:solidFill>
                  <a:srgbClr val="CFE0D8"/>
                </a:solidFill>
                <a:latin typeface="Calibri" pitchFamily="34" charset="0"/>
                <a:ea typeface="Calibri" pitchFamily="34" charset="-122"/>
                <a:cs typeface="Calibri" pitchFamily="34" charset="-120"/>
              </a:rPr>
              <a:t>El asistente no es inteligencia artificial: son catorce preguntas con sus respuestas.</a:t>
            </a:r>
            <a:endParaRPr lang="en-US" sz="1300" dirty="0"/>
          </a:p>
          <a:p>
            <a:pPr marL="342900" indent="-342900">
              <a:spcAft>
                <a:spcPts val="1200"/>
              </a:spcAft>
              <a:buSzPct val="100000"/>
              <a:buChar char="•"/>
            </a:pPr>
            <a:r>
              <a:rPr lang="en-US" sz="1300" dirty="0">
                <a:solidFill>
                  <a:srgbClr val="CFE0D8"/>
                </a:solidFill>
                <a:latin typeface="Calibri" pitchFamily="34" charset="0"/>
                <a:ea typeface="Calibri" pitchFamily="34" charset="-122"/>
                <a:cs typeface="Calibri" pitchFamily="34" charset="-120"/>
              </a:rPr>
              <a:t>La pasarela está en modo de prueba y se avisa en pantalla: no se cobra dinero real.</a:t>
            </a:r>
            <a:endParaRPr lang="en-US" sz="1300" dirty="0"/>
          </a:p>
        </p:txBody>
      </p:sp>
      <p:sp>
        <p:nvSpPr>
          <p:cNvPr id="7" name="Text 4"/>
          <p:cNvSpPr/>
          <p:nvPr/>
        </p:nvSpPr>
        <p:spPr>
          <a:xfrm>
            <a:off x="594360" y="5669280"/>
            <a:ext cx="603504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Gracias. ¿Preguntas?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GamaSport · Defensa del proyecto</dc:title>
  <dc:subject>PptxGenJS Presentation</dc:subject>
  <dc:creator>Equipo GamaSport</dc:creator>
  <cp:lastModifiedBy>Equipo GamaSport</cp:lastModifiedBy>
  <cp:revision>1</cp:revision>
  <dcterms:created xsi:type="dcterms:W3CDTF">2026-08-05T17:08:26Z</dcterms:created>
  <dcterms:modified xsi:type="dcterms:W3CDTF">2026-08-05T17:08:26Z</dcterms:modified>
</cp:coreProperties>
</file>